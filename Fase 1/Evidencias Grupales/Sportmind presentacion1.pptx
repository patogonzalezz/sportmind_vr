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image/gif" Extension="gif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2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</p:sldIdLst>
  <p:sldSz cy="6858000" cx="12191675"/>
  <p:notesSz cx="6858000" cy="12191675"/>
  <p:embeddedFontLst>
    <p:embeddedFont>
      <p:font typeface="Geist"/>
      <p:bold r:id="rId17"/>
      <p:boldItalic r:id="rId1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9" roundtripDataSignature="AMtx7mgbPBo5mIELXGCGvbTalr23uHffi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font" Target="fonts/Geist-bold.fntdata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19" Type="http://customschemas.google.com/relationships/presentationmetadata" Target="metadata"/><Relationship Id="rId6" Type="http://schemas.openxmlformats.org/officeDocument/2006/relationships/slide" Target="slides/slide2.xml"/><Relationship Id="rId18" Type="http://schemas.openxmlformats.org/officeDocument/2006/relationships/font" Target="fonts/Geist-boldItalic.fntdata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" name="Google Shape;17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" name="Google Shape;26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" name="Google Shape;27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" name="Google Shape;42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" name="Google Shape;43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" name="Google Shape;6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" name="Google Shape;61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" name="Google Shape;74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9dee2ea9c_1_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9dee2ea9c_1_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g3f9dee2ea9c_1_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6" name="Google Shape;106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2" name="Google Shape;112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1" name="Google Shape;121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8" name="Google Shape;12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7" name="Google Shape;147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f9db753baf_1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3f9db753baf_1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g3f9db753baf_1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master 1">
  <p:cSld name="Slide master 1"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1" name="Google Shape;11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1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620">
              <a:alpha val="94902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3" name="Google Shape;13;p13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76875" y="6558991"/>
            <a:ext cx="1071843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8.png"/><Relationship Id="rId4" Type="http://schemas.openxmlformats.org/officeDocument/2006/relationships/image" Target="../media/image17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3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2.png"/><Relationship Id="rId4" Type="http://schemas.openxmlformats.org/officeDocument/2006/relationships/image" Target="../media/image10.png"/><Relationship Id="rId5" Type="http://schemas.openxmlformats.org/officeDocument/2006/relationships/image" Target="../media/image9.png"/><Relationship Id="rId6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2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jp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9.png"/><Relationship Id="rId4" Type="http://schemas.openxmlformats.org/officeDocument/2006/relationships/image" Target="../media/image21.png"/><Relationship Id="rId5" Type="http://schemas.openxmlformats.org/officeDocument/2006/relationships/image" Target="../media/image18.png"/><Relationship Id="rId6" Type="http://schemas.openxmlformats.org/officeDocument/2006/relationships/image" Target="../media/image20.png"/><Relationship Id="rId7" Type="http://schemas.openxmlformats.org/officeDocument/2006/relationships/image" Target="../media/image1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6.gif"/><Relationship Id="rId4" Type="http://schemas.openxmlformats.org/officeDocument/2006/relationships/image" Target="../media/image6.png"/><Relationship Id="rId5" Type="http://schemas.openxmlformats.org/officeDocument/2006/relationships/hyperlink" Target="https://github.com/PatoGonzalezz/SportMind_VR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"/>
          <p:cNvSpPr/>
          <p:nvPr/>
        </p:nvSpPr>
        <p:spPr>
          <a:xfrm>
            <a:off x="440650" y="1123075"/>
            <a:ext cx="6591300" cy="20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2F5FA"/>
              </a:buClr>
              <a:buSzPts val="3700"/>
              <a:buFont typeface="Geist"/>
              <a:buNone/>
            </a:pPr>
            <a:r>
              <a:rPr b="1" lang="en-US" sz="3700">
                <a:solidFill>
                  <a:srgbClr val="F2F5FA"/>
                </a:solidFill>
                <a:latin typeface="Geist"/>
                <a:ea typeface="Geist"/>
                <a:cs typeface="Geist"/>
                <a:sym typeface="Geist"/>
              </a:rPr>
              <a:t>Modelo de Inteligencia Artificial y Entornos Inmersivos para el Análisis Emocional Deportivo </a:t>
            </a:r>
            <a:endParaRPr b="0" i="0" sz="3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587875" y="3934630"/>
            <a:ext cx="6297000" cy="949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450"/>
              <a:buFont typeface="Geist"/>
              <a:buNone/>
            </a:pPr>
            <a:r>
              <a:rPr b="0" i="0" lang="en-US" sz="145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Plataforma de Regulación Emocional para Deportistas de Alto Rendimiento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8000"/>
              </a:lnSpc>
              <a:spcBef>
                <a:spcPts val="1650"/>
              </a:spcBef>
              <a:spcAft>
                <a:spcPts val="0"/>
              </a:spcAft>
              <a:buClr>
                <a:srgbClr val="FBBF24"/>
              </a:buClr>
              <a:buSzPts val="1450"/>
              <a:buFont typeface="Geist"/>
              <a:buNone/>
            </a:pPr>
            <a:r>
              <a:rPr b="0" i="0" lang="en-US" sz="1450" u="none" cap="none" strike="noStrike">
                <a:solidFill>
                  <a:srgbClr val="FBBF24"/>
                </a:solidFill>
                <a:latin typeface="Geist"/>
                <a:ea typeface="Geist"/>
                <a:cs typeface="Geist"/>
                <a:sym typeface="Geist"/>
              </a:rPr>
              <a:t>Patricio González • Matías Díaz • Francisco Bilbao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" name="Google Shape;22;p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12449" y="5008275"/>
            <a:ext cx="4247700" cy="1044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" name="Google Shape;23;p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184350" y="1509200"/>
            <a:ext cx="4854924" cy="364119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4800500" cy="6858000"/>
          </a:xfrm>
          <a:custGeom>
            <a:rect b="b" l="l" r="r" t="t"/>
            <a:pathLst>
              <a:path extrusionOk="0" h="100000" w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0" name="Google Shape;30;p2"/>
          <p:cNvSpPr/>
          <p:nvPr/>
        </p:nvSpPr>
        <p:spPr>
          <a:xfrm>
            <a:off x="5233360" y="660896"/>
            <a:ext cx="6296860" cy="556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2F5FA"/>
              </a:buClr>
              <a:buSzPts val="3350"/>
              <a:buFont typeface="Geist"/>
              <a:buNone/>
            </a:pPr>
            <a:r>
              <a:rPr b="1" i="0" lang="en-US" sz="3350" u="none" cap="none" strike="noStrike">
                <a:solidFill>
                  <a:srgbClr val="F2F5FA"/>
                </a:solidFill>
                <a:latin typeface="Geist"/>
                <a:ea typeface="Geist"/>
                <a:cs typeface="Geist"/>
                <a:sym typeface="Geist"/>
              </a:rPr>
              <a:t>El Proyecto</a:t>
            </a:r>
            <a:endParaRPr b="0" i="0" sz="3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2"/>
          <p:cNvSpPr/>
          <p:nvPr/>
        </p:nvSpPr>
        <p:spPr>
          <a:xfrm>
            <a:off x="5233360" y="1450280"/>
            <a:ext cx="6296860" cy="1176437"/>
          </a:xfrm>
          <a:prstGeom prst="roundRect">
            <a:avLst>
              <a:gd fmla="val 6116" name="adj"/>
            </a:avLst>
          </a:prstGeom>
          <a:solidFill>
            <a:srgbClr val="101620"/>
          </a:solidFill>
          <a:ln cap="flat" cmpd="sng" w="19050">
            <a:solidFill>
              <a:srgbClr val="002A8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423657" y="1640582"/>
            <a:ext cx="5916266" cy="27830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650"/>
              <a:buFont typeface="Geist"/>
              <a:buNone/>
            </a:pPr>
            <a:r>
              <a:rPr b="1" i="0" lang="en-US" sz="185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Objetivo</a:t>
            </a:r>
            <a:endParaRPr b="0" i="0" sz="1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2"/>
          <p:cNvSpPr/>
          <p:nvPr/>
        </p:nvSpPr>
        <p:spPr>
          <a:xfrm>
            <a:off x="5423657" y="2011958"/>
            <a:ext cx="5916266" cy="42445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300"/>
              <a:buFont typeface="Geist"/>
              <a:buNone/>
            </a:pPr>
            <a:r>
              <a:rPr lang="en-US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Mejorar e</a:t>
            </a:r>
            <a:r>
              <a:rPr b="0" i="0" lang="en-US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 implementar y validar un modelo de IA para regulación emocional mediante realidad virtual</a:t>
            </a:r>
            <a:endParaRPr b="0" i="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2"/>
          <p:cNvSpPr/>
          <p:nvPr/>
        </p:nvSpPr>
        <p:spPr>
          <a:xfrm>
            <a:off x="5233360" y="2781895"/>
            <a:ext cx="6296860" cy="1176437"/>
          </a:xfrm>
          <a:prstGeom prst="roundRect">
            <a:avLst>
              <a:gd fmla="val 6116" name="adj"/>
            </a:avLst>
          </a:prstGeom>
          <a:solidFill>
            <a:srgbClr val="101620"/>
          </a:solidFill>
          <a:ln cap="flat" cmpd="sng" w="19050">
            <a:solidFill>
              <a:srgbClr val="002A8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5423657" y="2972197"/>
            <a:ext cx="5916266" cy="27830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650"/>
              <a:buFont typeface="Geist"/>
              <a:buNone/>
            </a:pPr>
            <a:r>
              <a:rPr b="1" i="0" lang="en-US" sz="185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Población</a:t>
            </a:r>
            <a:endParaRPr b="0" i="0" sz="1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2"/>
          <p:cNvSpPr/>
          <p:nvPr/>
        </p:nvSpPr>
        <p:spPr>
          <a:xfrm>
            <a:off x="5423657" y="3343573"/>
            <a:ext cx="5916266" cy="42445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300"/>
              <a:buFont typeface="Geist"/>
              <a:buNone/>
            </a:pPr>
            <a:r>
              <a:rPr b="0" i="0" lang="en-US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Deportistas de alto rendimiento en centros de entrenamiento regional y nacional</a:t>
            </a:r>
            <a:endParaRPr b="0" i="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2"/>
          <p:cNvSpPr/>
          <p:nvPr/>
        </p:nvSpPr>
        <p:spPr>
          <a:xfrm>
            <a:off x="5233310" y="4113509"/>
            <a:ext cx="6297000" cy="964200"/>
          </a:xfrm>
          <a:prstGeom prst="roundRect">
            <a:avLst>
              <a:gd fmla="val 7462" name="adj"/>
            </a:avLst>
          </a:prstGeom>
          <a:solidFill>
            <a:srgbClr val="101620"/>
          </a:solidFill>
          <a:ln cap="flat" cmpd="sng" w="19050">
            <a:solidFill>
              <a:srgbClr val="002A8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5423657" y="4303798"/>
            <a:ext cx="5916300" cy="278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650"/>
              <a:buFont typeface="Geist"/>
              <a:buNone/>
            </a:pPr>
            <a:r>
              <a:rPr b="1" i="0" lang="en-US" sz="165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Impacto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2"/>
          <p:cNvSpPr/>
          <p:nvPr/>
        </p:nvSpPr>
        <p:spPr>
          <a:xfrm>
            <a:off x="5423657" y="4675173"/>
            <a:ext cx="5916300" cy="212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300"/>
              <a:buFont typeface="Geist"/>
              <a:buNone/>
            </a:pPr>
            <a:r>
              <a:rPr b="0" i="0" lang="en-US" sz="13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Herramientas de desestrés y plataforma estructurada para especialistas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3"/>
          <p:cNvSpPr/>
          <p:nvPr/>
        </p:nvSpPr>
        <p:spPr>
          <a:xfrm>
            <a:off x="661475" y="1123255"/>
            <a:ext cx="10868745" cy="6142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2F5FA"/>
              </a:buClr>
              <a:buSzPts val="3700"/>
              <a:buFont typeface="Geist"/>
              <a:buNone/>
            </a:pPr>
            <a:r>
              <a:rPr b="1" i="0" lang="en-US" sz="3700" u="none" cap="none" strike="noStrike">
                <a:solidFill>
                  <a:srgbClr val="F2F5FA"/>
                </a:solidFill>
                <a:latin typeface="Geist"/>
                <a:ea typeface="Geist"/>
                <a:cs typeface="Geist"/>
                <a:sym typeface="Geist"/>
              </a:rPr>
              <a:t>Áreas de Desempeño </a:t>
            </a:r>
            <a:endParaRPr b="0" i="0" sz="3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46" name="Google Shape;46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1475" y="2115542"/>
            <a:ext cx="472468" cy="472480"/>
          </a:xfrm>
          <a:prstGeom prst="rect">
            <a:avLst/>
          </a:prstGeom>
          <a:noFill/>
          <a:ln>
            <a:noFill/>
          </a:ln>
        </p:spPr>
      </p:pic>
      <p:sp>
        <p:nvSpPr>
          <p:cNvPr id="47" name="Google Shape;47;p3"/>
          <p:cNvSpPr/>
          <p:nvPr/>
        </p:nvSpPr>
        <p:spPr>
          <a:xfrm>
            <a:off x="661475" y="2824262"/>
            <a:ext cx="5316206" cy="3070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850"/>
              <a:buFont typeface="Geist"/>
              <a:buNone/>
            </a:pPr>
            <a:r>
              <a:rPr b="1" i="0" lang="en-US" sz="185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IA &amp; LLM</a:t>
            </a:r>
            <a:endParaRPr b="0" i="0" sz="1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661475" y="3244751"/>
            <a:ext cx="5316206" cy="491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450"/>
              <a:buFont typeface="Geist"/>
              <a:buNone/>
            </a:pPr>
            <a:r>
              <a:rPr b="0" i="0" lang="en-US" sz="145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Clasificación de estados emocionales con datos mixtos en tiempo real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49" name="Google Shape;49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13915" y="2115542"/>
            <a:ext cx="472468" cy="472480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3"/>
          <p:cNvSpPr/>
          <p:nvPr/>
        </p:nvSpPr>
        <p:spPr>
          <a:xfrm>
            <a:off x="6213915" y="2824262"/>
            <a:ext cx="5316305" cy="3070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850"/>
              <a:buFont typeface="Geist"/>
              <a:buNone/>
            </a:pPr>
            <a:r>
              <a:rPr b="1" i="0" lang="en-US" sz="185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Realidad Virtual</a:t>
            </a:r>
            <a:endParaRPr b="0" i="0" sz="1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6213915" y="3244751"/>
            <a:ext cx="5316305" cy="491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450"/>
              <a:buFont typeface="Geist"/>
              <a:buNone/>
            </a:pPr>
            <a:r>
              <a:rPr b="0" i="0" lang="en-US" sz="145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Entornos inmersivos con Meta Quest 3 para regulación emocional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52" name="Google Shape;52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61475" y="4114105"/>
            <a:ext cx="472468" cy="472480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3"/>
          <p:cNvSpPr/>
          <p:nvPr/>
        </p:nvSpPr>
        <p:spPr>
          <a:xfrm>
            <a:off x="661475" y="4822825"/>
            <a:ext cx="5316206" cy="3070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850"/>
              <a:buFont typeface="Geist"/>
              <a:buNone/>
            </a:pPr>
            <a:r>
              <a:rPr b="1" i="0" lang="en-US" sz="185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Programación Web</a:t>
            </a:r>
            <a:endParaRPr b="0" i="0" sz="1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3"/>
          <p:cNvSpPr/>
          <p:nvPr/>
        </p:nvSpPr>
        <p:spPr>
          <a:xfrm>
            <a:off x="661475" y="5243314"/>
            <a:ext cx="5316206" cy="491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450"/>
              <a:buFont typeface="Geist"/>
              <a:buNone/>
            </a:pPr>
            <a:r>
              <a:rPr b="0" i="0" lang="en-US" sz="145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Dashboard interactivo y APIs REST para monitoreo especializado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55" name="Google Shape;55;p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13915" y="4114105"/>
            <a:ext cx="472468" cy="472480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3"/>
          <p:cNvSpPr/>
          <p:nvPr/>
        </p:nvSpPr>
        <p:spPr>
          <a:xfrm>
            <a:off x="6213915" y="4822825"/>
            <a:ext cx="5316305" cy="3070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850"/>
              <a:buFont typeface="Geist"/>
              <a:buNone/>
            </a:pPr>
            <a:r>
              <a:rPr b="1" i="0" lang="en-US" sz="185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Cloud Computing</a:t>
            </a:r>
            <a:endParaRPr b="0" i="0" sz="1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3"/>
          <p:cNvSpPr/>
          <p:nvPr/>
        </p:nvSpPr>
        <p:spPr>
          <a:xfrm>
            <a:off x="6213915" y="5243314"/>
            <a:ext cx="5316305" cy="491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450"/>
              <a:buFont typeface="Geist"/>
              <a:buNone/>
            </a:pPr>
            <a:r>
              <a:rPr b="0" i="0" lang="en-US" sz="145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Infraestructura escalable: AWS Lambda, DynamoDB, S3, Cognito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4"/>
          <p:cNvSpPr/>
          <p:nvPr/>
        </p:nvSpPr>
        <p:spPr>
          <a:xfrm>
            <a:off x="661475" y="552351"/>
            <a:ext cx="10868745" cy="6046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2F5FA"/>
              </a:buClr>
              <a:buSzPts val="3650"/>
              <a:buFont typeface="Geist"/>
              <a:buNone/>
            </a:pPr>
            <a:r>
              <a:rPr b="1" i="0" lang="en-US" sz="3650" u="none" cap="none" strike="noStrike">
                <a:solidFill>
                  <a:srgbClr val="F2F5FA"/>
                </a:solidFill>
                <a:latin typeface="Geist"/>
                <a:ea typeface="Geist"/>
                <a:cs typeface="Geist"/>
                <a:sym typeface="Geist"/>
              </a:rPr>
              <a:t>Descripción Técnica </a:t>
            </a:r>
            <a:r>
              <a:rPr b="1" i="0" lang="en-US" sz="3650" u="none" cap="none" strike="noStrike">
                <a:solidFill>
                  <a:srgbClr val="FBBF24"/>
                </a:solidFill>
                <a:latin typeface="Geist"/>
                <a:ea typeface="Geist"/>
                <a:cs typeface="Geist"/>
                <a:sym typeface="Geist"/>
              </a:rPr>
              <a:t>&amp;</a:t>
            </a:r>
            <a:r>
              <a:rPr b="1" i="0" lang="en-US" sz="3650" u="none" cap="none" strike="noStrike">
                <a:solidFill>
                  <a:srgbClr val="F2F5FA"/>
                </a:solidFill>
                <a:latin typeface="Geist"/>
                <a:ea typeface="Geist"/>
                <a:cs typeface="Geist"/>
                <a:sym typeface="Geist"/>
              </a:rPr>
              <a:t> Seguridad</a:t>
            </a:r>
            <a:endParaRPr b="0" i="0" sz="3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64" name="Google Shape;64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1475" y="1911945"/>
            <a:ext cx="6905849" cy="3913386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4"/>
          <p:cNvSpPr/>
          <p:nvPr/>
        </p:nvSpPr>
        <p:spPr>
          <a:xfrm>
            <a:off x="8027489" y="1614884"/>
            <a:ext cx="3509081" cy="302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2F5FA"/>
              </a:buClr>
              <a:buSzPts val="1800"/>
              <a:buFont typeface="Geist"/>
              <a:buNone/>
            </a:pPr>
            <a:r>
              <a:rPr b="1" i="0" lang="en-US" sz="1800" u="none" cap="none" strike="noStrike">
                <a:solidFill>
                  <a:srgbClr val="F2F5FA"/>
                </a:solidFill>
                <a:latin typeface="Geist"/>
                <a:ea typeface="Geist"/>
                <a:cs typeface="Geist"/>
                <a:sym typeface="Geist"/>
              </a:rPr>
              <a:t>Flujo de Sesión VR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4"/>
          <p:cNvSpPr/>
          <p:nvPr/>
        </p:nvSpPr>
        <p:spPr>
          <a:xfrm>
            <a:off x="8027489" y="2100362"/>
            <a:ext cx="3509081" cy="9596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450"/>
              <a:buFont typeface="Geist"/>
              <a:buNone/>
            </a:pPr>
            <a:r>
              <a:rPr b="0" i="0" lang="en-US" sz="145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Meta Quest 3 captura métricas fisiológicas y conductuales en tiempo real. Un </a:t>
            </a:r>
            <a:r>
              <a:rPr b="1" i="0" lang="en-US" sz="145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código de visualización</a:t>
            </a:r>
            <a:r>
              <a:rPr b="0" i="0" lang="en-US" sz="145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 vincula cada sesión con el especialista asignado.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4"/>
          <p:cNvSpPr/>
          <p:nvPr/>
        </p:nvSpPr>
        <p:spPr>
          <a:xfrm>
            <a:off x="8027489" y="3243163"/>
            <a:ext cx="3509081" cy="302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2F5FA"/>
              </a:buClr>
              <a:buSzPts val="1800"/>
              <a:buFont typeface="Geist"/>
              <a:buNone/>
            </a:pPr>
            <a:r>
              <a:rPr b="1" i="0" lang="en-US" sz="1800" u="none" cap="none" strike="noStrike">
                <a:solidFill>
                  <a:srgbClr val="F2F5FA"/>
                </a:solidFill>
                <a:latin typeface="Geist"/>
                <a:ea typeface="Geist"/>
                <a:cs typeface="Geist"/>
                <a:sym typeface="Geist"/>
              </a:rPr>
              <a:t>Roles del Sistema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4"/>
          <p:cNvSpPr/>
          <p:nvPr/>
        </p:nvSpPr>
        <p:spPr>
          <a:xfrm>
            <a:off x="8027489" y="3728641"/>
            <a:ext cx="3509081" cy="10237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74425">
            <a:normAutofit/>
          </a:bodyPr>
          <a:lstStyle/>
          <a:p>
            <a:pPr indent="-294640" lvl="0" marL="29464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450"/>
              <a:buFont typeface="Geist"/>
              <a:buChar char="•"/>
            </a:pPr>
            <a:r>
              <a:rPr b="1" i="0" lang="en-US" sz="145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Especialista:</a:t>
            </a:r>
            <a:r>
              <a:rPr b="0" i="0" lang="en-US" sz="145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 Análisis y diagnóstico automatizado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94640" lvl="0" marL="29464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450"/>
              <a:buFont typeface="Geist"/>
              <a:buChar char="•"/>
            </a:pPr>
            <a:r>
              <a:rPr b="1" i="0" lang="en-US" sz="145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Administrador:</a:t>
            </a:r>
            <a:r>
              <a:rPr b="0" i="0" lang="en-US" sz="145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 Gestión y aprobación de accesos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4"/>
          <p:cNvSpPr/>
          <p:nvPr/>
        </p:nvSpPr>
        <p:spPr>
          <a:xfrm>
            <a:off x="8027489" y="4935538"/>
            <a:ext cx="3509081" cy="302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2F5FA"/>
              </a:buClr>
              <a:buSzPts val="1800"/>
              <a:buFont typeface="Geist"/>
              <a:buNone/>
            </a:pPr>
            <a:r>
              <a:rPr b="1" i="0" lang="en-US" sz="1800" u="none" cap="none" strike="noStrike">
                <a:solidFill>
                  <a:srgbClr val="F2F5FA"/>
                </a:solidFill>
                <a:latin typeface="Geist"/>
                <a:ea typeface="Geist"/>
                <a:cs typeface="Geist"/>
                <a:sym typeface="Geist"/>
              </a:rPr>
              <a:t>Seguridad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4"/>
          <p:cNvSpPr/>
          <p:nvPr/>
        </p:nvSpPr>
        <p:spPr>
          <a:xfrm>
            <a:off x="8027489" y="5421015"/>
            <a:ext cx="3509081" cy="7197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450"/>
              <a:buFont typeface="Geist"/>
              <a:buNone/>
            </a:pPr>
            <a:r>
              <a:rPr b="0" i="0" lang="en-US" sz="145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Amazon Cognito gestiona autenticación y permisos basados en roles para protección integral de datos sensibles.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5"/>
          <p:cNvSpPr/>
          <p:nvPr/>
        </p:nvSpPr>
        <p:spPr>
          <a:xfrm>
            <a:off x="847025" y="543989"/>
            <a:ext cx="108687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2F5FA"/>
              </a:buClr>
              <a:buSzPts val="3450"/>
              <a:buFont typeface="Geist"/>
              <a:buNone/>
            </a:pPr>
            <a:r>
              <a:rPr b="1" i="0" lang="en-US" sz="3450" u="none" cap="none" strike="noStrike">
                <a:solidFill>
                  <a:srgbClr val="F2F5FA"/>
                </a:solidFill>
                <a:latin typeface="Geist"/>
                <a:ea typeface="Geist"/>
                <a:cs typeface="Geist"/>
                <a:sym typeface="Geist"/>
              </a:rPr>
              <a:t>Objetivo</a:t>
            </a:r>
            <a:endParaRPr b="0" i="0" sz="3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5"/>
          <p:cNvSpPr/>
          <p:nvPr/>
        </p:nvSpPr>
        <p:spPr>
          <a:xfrm>
            <a:off x="661475" y="1522710"/>
            <a:ext cx="5218280" cy="287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2F5FA"/>
              </a:buClr>
              <a:buSzPts val="1700"/>
              <a:buFont typeface="Geist"/>
              <a:buNone/>
            </a:pPr>
            <a:r>
              <a:rPr b="1" i="0" lang="en-US" sz="1700" u="none" cap="none" strike="noStrike">
                <a:solidFill>
                  <a:srgbClr val="F2F5FA"/>
                </a:solidFill>
                <a:latin typeface="Geist"/>
                <a:ea typeface="Geist"/>
                <a:cs typeface="Geist"/>
                <a:sym typeface="Geist"/>
              </a:rPr>
              <a:t>Objetivo General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5"/>
          <p:cNvSpPr/>
          <p:nvPr/>
        </p:nvSpPr>
        <p:spPr>
          <a:xfrm>
            <a:off x="661475" y="1976735"/>
            <a:ext cx="5218280" cy="66942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350"/>
              <a:buFont typeface="Geist"/>
              <a:buNone/>
            </a:pPr>
            <a:r>
              <a:rPr b="0" i="0" lang="en-US" sz="135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Diseñar, implementar y validar un modelo de IA con datos mixtos para clasificación emocional mediante prototipo de realidad virtual orientado a deportistas de alto rendimiento.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5"/>
          <p:cNvSpPr/>
          <p:nvPr/>
        </p:nvSpPr>
        <p:spPr>
          <a:xfrm>
            <a:off x="6318290" y="1543447"/>
            <a:ext cx="398651" cy="398661"/>
          </a:xfrm>
          <a:prstGeom prst="roundRect">
            <a:avLst>
              <a:gd fmla="val 18669" name="adj"/>
            </a:avLst>
          </a:prstGeom>
          <a:solidFill>
            <a:srgbClr val="101620"/>
          </a:solidFill>
          <a:ln cap="flat" cmpd="sng" w="19050">
            <a:solidFill>
              <a:srgbClr val="002A8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" name="Google Shape;80;p5"/>
          <p:cNvSpPr/>
          <p:nvPr/>
        </p:nvSpPr>
        <p:spPr>
          <a:xfrm>
            <a:off x="6384716" y="1570038"/>
            <a:ext cx="265800" cy="345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2050"/>
              <a:buFont typeface="Geist"/>
              <a:buNone/>
            </a:pPr>
            <a:r>
              <a:rPr b="1" i="0" lang="en-US" sz="205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1</a:t>
            </a:r>
            <a:endParaRPr b="0" i="0" sz="2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5"/>
          <p:cNvSpPr/>
          <p:nvPr/>
        </p:nvSpPr>
        <p:spPr>
          <a:xfrm>
            <a:off x="6883029" y="1598811"/>
            <a:ext cx="4653541" cy="287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700"/>
              <a:buFont typeface="Geist"/>
              <a:buNone/>
            </a:pPr>
            <a:r>
              <a:rPr b="1" i="0" lang="en-US" sz="17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Modelo de IA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5"/>
          <p:cNvSpPr/>
          <p:nvPr/>
        </p:nvSpPr>
        <p:spPr>
          <a:xfrm>
            <a:off x="6883029" y="2052836"/>
            <a:ext cx="4653541" cy="44628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350"/>
              <a:buFont typeface="Geist"/>
              <a:buNone/>
            </a:pPr>
            <a:r>
              <a:rPr b="0" i="0" lang="en-US" sz="135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Entrenar clasificador de estados emocionales en tiempo real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5"/>
          <p:cNvSpPr/>
          <p:nvPr/>
        </p:nvSpPr>
        <p:spPr>
          <a:xfrm>
            <a:off x="6318290" y="2831306"/>
            <a:ext cx="398651" cy="398661"/>
          </a:xfrm>
          <a:prstGeom prst="roundRect">
            <a:avLst>
              <a:gd fmla="val 18669" name="adj"/>
            </a:avLst>
          </a:prstGeom>
          <a:solidFill>
            <a:srgbClr val="101620"/>
          </a:solidFill>
          <a:ln cap="flat" cmpd="sng" w="19050">
            <a:solidFill>
              <a:srgbClr val="002A8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" name="Google Shape;84;p5"/>
          <p:cNvSpPr/>
          <p:nvPr/>
        </p:nvSpPr>
        <p:spPr>
          <a:xfrm>
            <a:off x="6384716" y="2857897"/>
            <a:ext cx="265800" cy="345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2050"/>
              <a:buFont typeface="Geist"/>
              <a:buNone/>
            </a:pPr>
            <a:r>
              <a:rPr b="1" i="0" lang="en-US" sz="205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2</a:t>
            </a:r>
            <a:endParaRPr b="0" i="0" sz="2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5"/>
          <p:cNvSpPr/>
          <p:nvPr/>
        </p:nvSpPr>
        <p:spPr>
          <a:xfrm>
            <a:off x="6883029" y="2886670"/>
            <a:ext cx="4653541" cy="287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700"/>
              <a:buFont typeface="Geist"/>
              <a:buNone/>
            </a:pPr>
            <a:r>
              <a:rPr b="1" i="0" lang="en-US" sz="17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Prototipo VR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5"/>
          <p:cNvSpPr/>
          <p:nvPr/>
        </p:nvSpPr>
        <p:spPr>
          <a:xfrm>
            <a:off x="6883029" y="3340695"/>
            <a:ext cx="4653541" cy="44628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350"/>
              <a:buFont typeface="Geist"/>
              <a:buNone/>
            </a:pPr>
            <a:r>
              <a:rPr b="0" i="0" lang="en-US" sz="135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Desarrollar entorno con recolección de métricas integrada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5"/>
          <p:cNvSpPr/>
          <p:nvPr/>
        </p:nvSpPr>
        <p:spPr>
          <a:xfrm>
            <a:off x="6318290" y="4119166"/>
            <a:ext cx="398651" cy="398661"/>
          </a:xfrm>
          <a:prstGeom prst="roundRect">
            <a:avLst>
              <a:gd fmla="val 18669" name="adj"/>
            </a:avLst>
          </a:prstGeom>
          <a:solidFill>
            <a:srgbClr val="101620"/>
          </a:solidFill>
          <a:ln cap="flat" cmpd="sng" w="19050">
            <a:solidFill>
              <a:srgbClr val="002A8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5"/>
          <p:cNvSpPr/>
          <p:nvPr/>
        </p:nvSpPr>
        <p:spPr>
          <a:xfrm>
            <a:off x="6384716" y="4145756"/>
            <a:ext cx="265800" cy="345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2050"/>
              <a:buFont typeface="Geist"/>
              <a:buNone/>
            </a:pPr>
            <a:r>
              <a:rPr b="1" i="0" lang="en-US" sz="205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3</a:t>
            </a:r>
            <a:endParaRPr b="0" i="0" sz="2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5"/>
          <p:cNvSpPr/>
          <p:nvPr/>
        </p:nvSpPr>
        <p:spPr>
          <a:xfrm>
            <a:off x="6883029" y="4174530"/>
            <a:ext cx="4653541" cy="287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700"/>
              <a:buFont typeface="Geist"/>
              <a:buNone/>
            </a:pPr>
            <a:r>
              <a:rPr b="1" i="0" lang="en-US" sz="17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Backend Serverless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5"/>
          <p:cNvSpPr/>
          <p:nvPr/>
        </p:nvSpPr>
        <p:spPr>
          <a:xfrm>
            <a:off x="6883029" y="4628555"/>
            <a:ext cx="4653541" cy="44628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350"/>
              <a:buFont typeface="Geist"/>
              <a:buNone/>
            </a:pPr>
            <a:r>
              <a:rPr b="0" i="0" lang="en-US" sz="135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Construir arquitectura AWS con Dashboard y seguridad Cognito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5"/>
          <p:cNvSpPr/>
          <p:nvPr/>
        </p:nvSpPr>
        <p:spPr>
          <a:xfrm>
            <a:off x="6318290" y="5407025"/>
            <a:ext cx="398651" cy="398661"/>
          </a:xfrm>
          <a:prstGeom prst="roundRect">
            <a:avLst>
              <a:gd fmla="val 18669" name="adj"/>
            </a:avLst>
          </a:prstGeom>
          <a:solidFill>
            <a:srgbClr val="101620"/>
          </a:solidFill>
          <a:ln cap="flat" cmpd="sng" w="19050">
            <a:solidFill>
              <a:srgbClr val="002A8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5"/>
          <p:cNvSpPr/>
          <p:nvPr/>
        </p:nvSpPr>
        <p:spPr>
          <a:xfrm>
            <a:off x="6384716" y="5433616"/>
            <a:ext cx="265800" cy="345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2050"/>
              <a:buFont typeface="Geist"/>
              <a:buNone/>
            </a:pPr>
            <a:r>
              <a:rPr b="1" i="0" lang="en-US" sz="205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4</a:t>
            </a:r>
            <a:endParaRPr b="0" i="0" sz="2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5"/>
          <p:cNvSpPr/>
          <p:nvPr/>
        </p:nvSpPr>
        <p:spPr>
          <a:xfrm>
            <a:off x="6883029" y="5462389"/>
            <a:ext cx="4653541" cy="287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700"/>
              <a:buFont typeface="Geist"/>
              <a:buNone/>
            </a:pPr>
            <a:r>
              <a:rPr b="1" i="0" lang="en-US" sz="17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Validación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5"/>
          <p:cNvSpPr/>
          <p:nvPr/>
        </p:nvSpPr>
        <p:spPr>
          <a:xfrm>
            <a:off x="6883029" y="5916414"/>
            <a:ext cx="4653541" cy="22314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350"/>
              <a:buFont typeface="Geist"/>
              <a:buNone/>
            </a:pPr>
            <a:r>
              <a:rPr b="0" i="0" lang="en-US" sz="135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Pruebas mixtas</a:t>
            </a:r>
            <a:r>
              <a:rPr lang="en-US" sz="1350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, </a:t>
            </a:r>
            <a:r>
              <a:rPr b="0" i="0" lang="en-US" sz="135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con deportistas de alto rendimiento reales y datos ya almacenados.</a:t>
            </a:r>
            <a:endParaRPr sz="1350">
              <a:solidFill>
                <a:srgbClr val="EBEDF0"/>
              </a:solidFill>
              <a:latin typeface="Geist"/>
              <a:ea typeface="Geist"/>
              <a:cs typeface="Geist"/>
              <a:sym typeface="Geist"/>
            </a:endParaRPr>
          </a:p>
        </p:txBody>
      </p:sp>
      <p:pic>
        <p:nvPicPr>
          <p:cNvPr id="95" name="Google Shape;95;p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86300" y="3203364"/>
            <a:ext cx="3810000" cy="285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f9dee2ea9c_1_4"/>
          <p:cNvSpPr/>
          <p:nvPr/>
        </p:nvSpPr>
        <p:spPr>
          <a:xfrm>
            <a:off x="661475" y="531614"/>
            <a:ext cx="108687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2F5FA"/>
              </a:buClr>
              <a:buSzPts val="3450"/>
              <a:buFont typeface="Geist"/>
              <a:buNone/>
            </a:pPr>
            <a:r>
              <a:rPr b="1" i="0" lang="en-US" sz="3450" u="none" cap="none" strike="noStrike">
                <a:solidFill>
                  <a:srgbClr val="F2F5FA"/>
                </a:solidFill>
                <a:latin typeface="Geist"/>
                <a:ea typeface="Geist"/>
                <a:cs typeface="Geist"/>
                <a:sym typeface="Geist"/>
              </a:rPr>
              <a:t>Objetivos </a:t>
            </a:r>
            <a:r>
              <a:rPr b="1" lang="en-US" sz="3450">
                <a:solidFill>
                  <a:srgbClr val="F2F5FA"/>
                </a:solidFill>
                <a:latin typeface="Geist"/>
                <a:ea typeface="Geist"/>
                <a:cs typeface="Geist"/>
                <a:sym typeface="Geist"/>
              </a:rPr>
              <a:t>especificos</a:t>
            </a:r>
            <a:endParaRPr b="0" i="0" sz="3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g3f9dee2ea9c_1_4"/>
          <p:cNvSpPr/>
          <p:nvPr/>
        </p:nvSpPr>
        <p:spPr>
          <a:xfrm>
            <a:off x="661475" y="1563450"/>
            <a:ext cx="5218200" cy="37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36550" lvl="0" marL="457200" rtl="0" algn="just">
              <a:lnSpc>
                <a:spcPct val="107916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Char char="●"/>
            </a:pPr>
            <a:r>
              <a:rPr lang="en-US" sz="1700">
                <a:solidFill>
                  <a:schemeClr val="lt1"/>
                </a:solidFill>
              </a:rPr>
              <a:t>Diseñar y entrenar el modelo de inteligencia artificial</a:t>
            </a:r>
            <a:endParaRPr sz="17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36550" lvl="0" marL="457200" rtl="0" algn="just">
              <a:lnSpc>
                <a:spcPct val="107916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Calibri"/>
              <a:buChar char="●"/>
            </a:pPr>
            <a:r>
              <a:rPr lang="en-US" sz="17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Construir la arquitectura backend y de almacenamiento en AWS</a:t>
            </a:r>
            <a:endParaRPr sz="17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36550" lvl="0" marL="457200" rtl="0" algn="just">
              <a:lnSpc>
                <a:spcPct val="107916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Calibri"/>
              <a:buChar char="●"/>
            </a:pPr>
            <a:r>
              <a:rPr lang="en-US" sz="17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Desarrollar un Dashboard web interactivo e implementar seguridad con Amazon Cognito</a:t>
            </a:r>
            <a:endParaRPr sz="17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36550" lvl="0" marL="457200" rtl="0" algn="just">
              <a:lnSpc>
                <a:spcPct val="107916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Calibri"/>
              <a:buChar char="●"/>
            </a:pPr>
            <a:r>
              <a:rPr lang="en-US" sz="17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Validar el funcionamiento del modelo de IA y la experiencia de realidad virtual</a:t>
            </a:r>
            <a:endParaRPr sz="17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36550" lvl="0" marL="457200" rtl="0" algn="just">
              <a:lnSpc>
                <a:spcPct val="107916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Calibri"/>
              <a:buChar char="●"/>
            </a:pPr>
            <a:r>
              <a:rPr lang="en-US" sz="17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Desarrollar e implementar sistema de logs para rol Administrador</a:t>
            </a:r>
            <a:endParaRPr sz="17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36550" lvl="0" marL="457200" rtl="0" algn="just">
              <a:lnSpc>
                <a:spcPct val="107916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Calibri"/>
              <a:buChar char="●"/>
            </a:pPr>
            <a:r>
              <a:rPr lang="en-US" sz="17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Desarrollar aplicación nativa de escritorio </a:t>
            </a:r>
            <a:endParaRPr sz="17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36550" lvl="0" marL="457200" rtl="0" algn="just">
              <a:lnSpc>
                <a:spcPct val="107916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Calibri"/>
              <a:buChar char="●"/>
            </a:pPr>
            <a:r>
              <a:rPr lang="en-US" sz="17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Desarrollar e implementar sistema de control de acceso a la plataforma distinguido por roles</a:t>
            </a:r>
            <a:endParaRPr sz="17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3" name="Google Shape;103;g3f9dee2ea9c_1_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68375" y="1107614"/>
            <a:ext cx="3810000" cy="381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" name="Google Shape;109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32350" y="-159975"/>
            <a:ext cx="10526976" cy="70179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7"/>
          <p:cNvSpPr/>
          <p:nvPr/>
        </p:nvSpPr>
        <p:spPr>
          <a:xfrm>
            <a:off x="784825" y="322457"/>
            <a:ext cx="10868700" cy="31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2F5FA"/>
              </a:buClr>
              <a:buSzPts val="1900"/>
              <a:buFont typeface="Geist"/>
              <a:buNone/>
            </a:pPr>
            <a:r>
              <a:rPr b="1" i="0" lang="en-US" sz="2300" u="none" cap="none" strike="noStrike">
                <a:solidFill>
                  <a:srgbClr val="F2F5FA"/>
                </a:solidFill>
                <a:latin typeface="Geist"/>
                <a:ea typeface="Geist"/>
                <a:cs typeface="Geist"/>
                <a:sym typeface="Geist"/>
              </a:rPr>
              <a:t>Arquitectura Técnica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16" name="Google Shape;116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1475" y="968276"/>
            <a:ext cx="5315512" cy="5315645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7"/>
          <p:cNvSpPr/>
          <p:nvPr/>
        </p:nvSpPr>
        <p:spPr>
          <a:xfrm>
            <a:off x="6221050" y="1379059"/>
            <a:ext cx="5315400" cy="101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2F5FA"/>
              </a:buClr>
              <a:buSzPts val="950"/>
              <a:buFont typeface="Geist"/>
              <a:buNone/>
            </a:pPr>
            <a:r>
              <a:rPr b="1" i="0" lang="en-US" sz="2150" u="none" cap="none" strike="noStrike">
                <a:solidFill>
                  <a:srgbClr val="F2F5FA"/>
                </a:solidFill>
                <a:latin typeface="Geist"/>
                <a:ea typeface="Geist"/>
                <a:cs typeface="Geist"/>
                <a:sym typeface="Geist"/>
              </a:rPr>
              <a:t>Stack Tecnológico</a:t>
            </a:r>
            <a:endParaRPr b="0" i="0" sz="2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7"/>
          <p:cNvSpPr/>
          <p:nvPr/>
        </p:nvSpPr>
        <p:spPr>
          <a:xfrm>
            <a:off x="6221050" y="2281525"/>
            <a:ext cx="5574000" cy="297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38975">
            <a:normAutofit/>
          </a:bodyPr>
          <a:lstStyle/>
          <a:p>
            <a:pPr indent="-209550" lvl="0" marL="152400" marR="0" rtl="0" algn="l">
              <a:lnSpc>
                <a:spcPct val="82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650"/>
              <a:buFont typeface="Geist"/>
              <a:buChar char="•"/>
            </a:pPr>
            <a:r>
              <a:rPr b="1" i="0" lang="en-US" sz="165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Frontend:</a:t>
            </a:r>
            <a:r>
              <a:rPr b="0" i="0" lang="en-US" sz="165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1650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Astro Framework/React </a:t>
            </a:r>
            <a:r>
              <a:rPr b="0" i="0" lang="en-US" sz="165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+ </a:t>
            </a:r>
            <a:r>
              <a:rPr lang="en-US" sz="1650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TailWind + Electron</a:t>
            </a:r>
            <a:endParaRPr sz="1650">
              <a:solidFill>
                <a:srgbClr val="EBEDF0"/>
              </a:solidFill>
              <a:latin typeface="Geist"/>
              <a:ea typeface="Geist"/>
              <a:cs typeface="Geist"/>
              <a:sym typeface="Geist"/>
            </a:endParaRPr>
          </a:p>
          <a:p>
            <a:pPr indent="0" lvl="0" marL="457200" marR="0" rtl="0" algn="l">
              <a:lnSpc>
                <a:spcPct val="8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50">
              <a:solidFill>
                <a:srgbClr val="EBEDF0"/>
              </a:solidFill>
              <a:latin typeface="Geist"/>
              <a:ea typeface="Geist"/>
              <a:cs typeface="Geist"/>
              <a:sym typeface="Geist"/>
            </a:endParaRPr>
          </a:p>
          <a:p>
            <a:pPr indent="-209550" lvl="0" marL="152400" marR="0" rtl="0" algn="l">
              <a:lnSpc>
                <a:spcPct val="82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650"/>
              <a:buFont typeface="Geist"/>
              <a:buChar char="•"/>
            </a:pPr>
            <a:r>
              <a:rPr b="1" i="0" lang="en-US" sz="165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Backend:</a:t>
            </a:r>
            <a:r>
              <a:rPr b="0" i="0" lang="en-US" sz="165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 AWS Lambda + API Gateway REST</a:t>
            </a:r>
            <a:endParaRPr b="0" i="0" sz="1650" u="none" cap="none" strike="noStrike">
              <a:solidFill>
                <a:srgbClr val="EBEDF0"/>
              </a:solidFill>
              <a:latin typeface="Geist"/>
              <a:ea typeface="Geist"/>
              <a:cs typeface="Geist"/>
              <a:sym typeface="Geist"/>
            </a:endParaRPr>
          </a:p>
          <a:p>
            <a:pPr indent="0" lvl="0" marL="457200" marR="0" rtl="0" algn="l">
              <a:lnSpc>
                <a:spcPct val="8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50">
              <a:solidFill>
                <a:srgbClr val="EBEDF0"/>
              </a:solidFill>
              <a:latin typeface="Geist"/>
              <a:ea typeface="Geist"/>
              <a:cs typeface="Geist"/>
              <a:sym typeface="Geist"/>
            </a:endParaRPr>
          </a:p>
          <a:p>
            <a:pPr indent="-209550" lvl="0" marL="152400" marR="0" rtl="0" algn="l">
              <a:lnSpc>
                <a:spcPct val="82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650"/>
              <a:buFont typeface="Geist"/>
              <a:buChar char="•"/>
            </a:pPr>
            <a:r>
              <a:rPr b="1" i="0" lang="en-US" sz="165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Datos:</a:t>
            </a:r>
            <a:r>
              <a:rPr b="0" i="0" lang="en-US" sz="165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 DynamoDB + S3 (reportes y multimedia)</a:t>
            </a:r>
            <a:endParaRPr b="0" i="0" sz="1650" u="none" cap="none" strike="noStrike">
              <a:solidFill>
                <a:srgbClr val="EBEDF0"/>
              </a:solidFill>
              <a:latin typeface="Geist"/>
              <a:ea typeface="Geist"/>
              <a:cs typeface="Geist"/>
              <a:sym typeface="Geist"/>
            </a:endParaRPr>
          </a:p>
          <a:p>
            <a:pPr indent="0" lvl="0" marL="457200" marR="0" rtl="0" algn="l">
              <a:lnSpc>
                <a:spcPct val="8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50">
              <a:solidFill>
                <a:srgbClr val="EBEDF0"/>
              </a:solidFill>
              <a:latin typeface="Geist"/>
              <a:ea typeface="Geist"/>
              <a:cs typeface="Geist"/>
              <a:sym typeface="Geist"/>
            </a:endParaRPr>
          </a:p>
          <a:p>
            <a:pPr indent="-209550" lvl="0" marL="152400" marR="0" rtl="0" algn="l">
              <a:lnSpc>
                <a:spcPct val="82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650"/>
              <a:buFont typeface="Geist"/>
              <a:buChar char="•"/>
            </a:pPr>
            <a:r>
              <a:rPr b="1" i="0" lang="en-US" sz="165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Seguridad:</a:t>
            </a:r>
            <a:r>
              <a:rPr b="0" i="0" lang="en-US" sz="165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 Amazon Cognito (control de acceso por roles)</a:t>
            </a:r>
            <a:endParaRPr b="0" i="0" sz="1650" u="none" cap="none" strike="noStrike">
              <a:solidFill>
                <a:srgbClr val="EBEDF0"/>
              </a:solidFill>
              <a:latin typeface="Geist"/>
              <a:ea typeface="Geist"/>
              <a:cs typeface="Geist"/>
              <a:sym typeface="Geist"/>
            </a:endParaRPr>
          </a:p>
          <a:p>
            <a:pPr indent="0" lvl="0" marL="0" marR="0" rtl="0" algn="l">
              <a:lnSpc>
                <a:spcPct val="8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50">
              <a:solidFill>
                <a:srgbClr val="EBEDF0"/>
              </a:solidFill>
              <a:latin typeface="Geist"/>
              <a:ea typeface="Geist"/>
              <a:cs typeface="Geist"/>
              <a:sym typeface="Geist"/>
            </a:endParaRPr>
          </a:p>
          <a:p>
            <a:pPr indent="-209550" lvl="0" marL="152400" marR="0" rtl="0" algn="l">
              <a:lnSpc>
                <a:spcPct val="82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650"/>
              <a:buFont typeface="Geist"/>
              <a:buChar char="•"/>
            </a:pPr>
            <a:r>
              <a:rPr b="1" i="0" lang="en-US" sz="165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Integración:</a:t>
            </a:r>
            <a:r>
              <a:rPr b="0" i="0" lang="en-US" sz="165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 Pipelines Meta Quest 3 en tiempo real</a:t>
            </a:r>
            <a:endParaRPr b="0" i="0" sz="1650" u="none" cap="none" strike="noStrike">
              <a:solidFill>
                <a:srgbClr val="EBEDF0"/>
              </a:solidFill>
              <a:latin typeface="Geist"/>
              <a:ea typeface="Geist"/>
              <a:cs typeface="Geist"/>
              <a:sym typeface="Geist"/>
            </a:endParaRPr>
          </a:p>
          <a:p>
            <a:pPr indent="0" lvl="0" marL="457200" marR="0" rtl="0" algn="l">
              <a:lnSpc>
                <a:spcPct val="8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50">
              <a:solidFill>
                <a:srgbClr val="EBEDF0"/>
              </a:solidFill>
              <a:latin typeface="Geist"/>
              <a:ea typeface="Geist"/>
              <a:cs typeface="Geist"/>
              <a:sym typeface="Geist"/>
            </a:endParaRPr>
          </a:p>
          <a:p>
            <a:pPr indent="-209550" lvl="0" marL="152400" marR="0" rtl="0" algn="l">
              <a:lnSpc>
                <a:spcPct val="82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650"/>
              <a:buFont typeface="Geist"/>
              <a:buChar char="•"/>
            </a:pPr>
            <a:r>
              <a:rPr b="1" i="0" lang="en-US" sz="165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Reportes:</a:t>
            </a:r>
            <a:r>
              <a:rPr b="0" i="0" lang="en-US" sz="165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 Generación y descarga automatizada de PDF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8"/>
          <p:cNvSpPr/>
          <p:nvPr/>
        </p:nvSpPr>
        <p:spPr>
          <a:xfrm>
            <a:off x="661475" y="519807"/>
            <a:ext cx="10868745" cy="3070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2F5FA"/>
              </a:buClr>
              <a:buSzPts val="1850"/>
              <a:buFont typeface="Geist"/>
              <a:buNone/>
            </a:pPr>
            <a:r>
              <a:rPr b="1" i="0" lang="en-US" sz="2300" u="none" cap="none" strike="noStrike">
                <a:solidFill>
                  <a:srgbClr val="F2F5FA"/>
                </a:solidFill>
                <a:latin typeface="Geist"/>
                <a:ea typeface="Geist"/>
                <a:cs typeface="Geist"/>
                <a:sym typeface="Geist"/>
              </a:rPr>
              <a:t>Cronograma: 3 Fases en 18 Semanas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5" name="Google Shape;125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856125"/>
            <a:ext cx="12191676" cy="263007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9"/>
          <p:cNvSpPr/>
          <p:nvPr/>
        </p:nvSpPr>
        <p:spPr>
          <a:xfrm>
            <a:off x="661475" y="868462"/>
            <a:ext cx="10868745" cy="6142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2F5FA"/>
              </a:buClr>
              <a:buSzPts val="3700"/>
              <a:buFont typeface="Geist"/>
              <a:buNone/>
            </a:pPr>
            <a:r>
              <a:rPr b="1" i="0" lang="en-US" sz="3700" u="none" cap="none" strike="noStrike">
                <a:solidFill>
                  <a:srgbClr val="F2F5FA"/>
                </a:solidFill>
                <a:latin typeface="Geist"/>
                <a:ea typeface="Geist"/>
                <a:cs typeface="Geist"/>
                <a:sym typeface="Geist"/>
              </a:rPr>
              <a:t>Evidencias </a:t>
            </a:r>
            <a:endParaRPr b="0" i="0" sz="3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9"/>
          <p:cNvSpPr/>
          <p:nvPr/>
        </p:nvSpPr>
        <p:spPr>
          <a:xfrm>
            <a:off x="661475" y="1955205"/>
            <a:ext cx="5203794" cy="3070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2F5FA"/>
              </a:buClr>
              <a:buSzPts val="1850"/>
              <a:buFont typeface="Geist"/>
              <a:buNone/>
            </a:pPr>
            <a:r>
              <a:rPr b="1" i="0" lang="en-US" sz="1850" u="none" cap="none" strike="noStrike">
                <a:solidFill>
                  <a:srgbClr val="F2F5FA"/>
                </a:solidFill>
                <a:latin typeface="Geist"/>
                <a:ea typeface="Geist"/>
                <a:cs typeface="Geist"/>
                <a:sym typeface="Geist"/>
              </a:rPr>
              <a:t>Avances Verificados</a:t>
            </a:r>
            <a:endParaRPr b="0" i="0" sz="1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33" name="Google Shape;133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1475" y="2474913"/>
            <a:ext cx="2507394" cy="1042988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9"/>
          <p:cNvSpPr/>
          <p:nvPr/>
        </p:nvSpPr>
        <p:spPr>
          <a:xfrm>
            <a:off x="977479" y="2689324"/>
            <a:ext cx="1976983" cy="6141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850"/>
              <a:buFont typeface="Geist"/>
              <a:buNone/>
            </a:pPr>
            <a:r>
              <a:rPr b="1" i="0" lang="en-US" sz="185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✓ </a:t>
            </a:r>
            <a:r>
              <a:rPr b="1" lang="en-US" sz="1850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Aplicación nativa funcional</a:t>
            </a:r>
            <a:endParaRPr b="0" i="0" sz="1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35" name="Google Shape;135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357875" y="2474913"/>
            <a:ext cx="2507394" cy="1042988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9"/>
          <p:cNvSpPr/>
          <p:nvPr/>
        </p:nvSpPr>
        <p:spPr>
          <a:xfrm>
            <a:off x="3673879" y="2689324"/>
            <a:ext cx="1976983" cy="6141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850"/>
              <a:buFont typeface="Geist"/>
              <a:buNone/>
            </a:pPr>
            <a:r>
              <a:rPr b="1" i="0" lang="en-US" sz="185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✓ VR-API conectada</a:t>
            </a:r>
            <a:endParaRPr b="0" i="0" sz="1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37" name="Google Shape;137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1475" y="3706912"/>
            <a:ext cx="2507394" cy="1042988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9"/>
          <p:cNvSpPr/>
          <p:nvPr/>
        </p:nvSpPr>
        <p:spPr>
          <a:xfrm>
            <a:off x="977479" y="3921323"/>
            <a:ext cx="1976983" cy="6141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850"/>
              <a:buFont typeface="Geist"/>
              <a:buNone/>
            </a:pPr>
            <a:r>
              <a:rPr b="1" lang="en-US" sz="1850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Generar PDF &lt;5s</a:t>
            </a:r>
            <a:endParaRPr b="0" i="0" sz="1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39" name="Google Shape;139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357875" y="3706912"/>
            <a:ext cx="2507394" cy="1042988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9"/>
          <p:cNvSpPr/>
          <p:nvPr/>
        </p:nvSpPr>
        <p:spPr>
          <a:xfrm>
            <a:off x="3673879" y="3921323"/>
            <a:ext cx="1976983" cy="3070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850"/>
              <a:buFont typeface="Geist"/>
              <a:buNone/>
            </a:pPr>
            <a:r>
              <a:rPr b="1" i="0" lang="en-US" sz="185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✓ Dashboard &lt;2s</a:t>
            </a:r>
            <a:endParaRPr b="0" i="0" sz="1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9"/>
          <p:cNvSpPr/>
          <p:nvPr/>
        </p:nvSpPr>
        <p:spPr>
          <a:xfrm>
            <a:off x="6332776" y="1955205"/>
            <a:ext cx="5203794" cy="3070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2F5FA"/>
              </a:buClr>
              <a:buSzPts val="1850"/>
              <a:buFont typeface="Geist"/>
              <a:buNone/>
            </a:pPr>
            <a:r>
              <a:rPr b="1" i="0" lang="en-US" sz="1850" u="none" cap="none" strike="noStrike">
                <a:solidFill>
                  <a:srgbClr val="F2F5FA"/>
                </a:solidFill>
                <a:latin typeface="Geist"/>
                <a:ea typeface="Geist"/>
                <a:cs typeface="Geist"/>
                <a:sym typeface="Geist"/>
              </a:rPr>
              <a:t>Recursos &amp; Mitigación de Riesgos</a:t>
            </a:r>
            <a:endParaRPr b="0" i="0" sz="1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9"/>
          <p:cNvSpPr/>
          <p:nvPr/>
        </p:nvSpPr>
        <p:spPr>
          <a:xfrm>
            <a:off x="6332776" y="2451298"/>
            <a:ext cx="5203794" cy="160615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75600">
            <a:normAutofit/>
          </a:bodyPr>
          <a:lstStyle/>
          <a:p>
            <a:pPr indent="-294640" lvl="0" marL="29464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450"/>
              <a:buFont typeface="Geist"/>
              <a:buChar char="•"/>
            </a:pPr>
            <a:r>
              <a:rPr b="1" i="0" lang="en-US" sz="145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Recursos:</a:t>
            </a:r>
            <a:r>
              <a:rPr b="0" i="0" lang="en-US" sz="145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 Computadores, Internet, Meta Quest 3, herramientas de desarrollo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94640" lvl="0" marL="29464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450"/>
              <a:buFont typeface="Geist"/>
              <a:buChar char="•"/>
            </a:pPr>
            <a:r>
              <a:rPr b="1" i="0" lang="en-US" sz="145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Facilitadores:</a:t>
            </a:r>
            <a:r>
              <a:rPr b="0" i="0" lang="en-US" sz="145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 Plataforma definida, documentación existente, estructura de datos establecida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94640" lvl="0" marL="29464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450"/>
              <a:buFont typeface="Geist"/>
              <a:buChar char="•"/>
            </a:pPr>
            <a:r>
              <a:rPr b="1" i="0" lang="en-US" sz="145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Riesgos:</a:t>
            </a:r>
            <a:r>
              <a:rPr b="0" i="0" lang="en-US" sz="145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 Pruebas periódicas, desarrollo modular, documentación de errores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9"/>
          <p:cNvSpPr/>
          <p:nvPr/>
        </p:nvSpPr>
        <p:spPr>
          <a:xfrm>
            <a:off x="6332776" y="4246463"/>
            <a:ext cx="5203794" cy="3070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2F5FA"/>
              </a:buClr>
              <a:buSzPts val="1850"/>
              <a:buFont typeface="Geist"/>
              <a:buNone/>
            </a:pPr>
            <a:r>
              <a:rPr b="1" i="0" lang="en-US" sz="1850" u="none" cap="none" strike="noStrike">
                <a:solidFill>
                  <a:srgbClr val="F2F5FA"/>
                </a:solidFill>
                <a:latin typeface="Geist"/>
                <a:ea typeface="Geist"/>
                <a:cs typeface="Geist"/>
                <a:sym typeface="Geist"/>
              </a:rPr>
              <a:t>Metas Finales</a:t>
            </a:r>
            <a:endParaRPr b="0" i="0" sz="1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9"/>
          <p:cNvSpPr/>
          <p:nvPr/>
        </p:nvSpPr>
        <p:spPr>
          <a:xfrm>
            <a:off x="6332776" y="4742582"/>
            <a:ext cx="5203800" cy="118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75600">
            <a:normAutofit/>
          </a:bodyPr>
          <a:lstStyle/>
          <a:p>
            <a:pPr indent="-294640" lvl="0" marL="29464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450"/>
              <a:buFont typeface="Geist"/>
              <a:buChar char="•"/>
            </a:pPr>
            <a:r>
              <a:rPr b="0" i="0" lang="en-US" sz="145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Informes PDF generados en &lt;5s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94640" lvl="0" marL="29464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450"/>
              <a:buFont typeface="Geist"/>
              <a:buChar char="•"/>
            </a:pPr>
            <a:r>
              <a:rPr b="0" i="0" lang="en-US" sz="145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Cobertura de pruebas ≥95%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94640" lvl="0" marL="29464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450"/>
              <a:buFont typeface="Geist"/>
              <a:buChar char="•"/>
            </a:pPr>
            <a:r>
              <a:rPr b="0" i="0" lang="en-US" sz="145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Manual técnico completo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94640" lvl="0" marL="29464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450"/>
              <a:buFont typeface="Geist"/>
              <a:buChar char="•"/>
            </a:pPr>
            <a:r>
              <a:rPr b="0" i="0" lang="en-US" sz="145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Validación con deportistas reales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0"/>
          <p:cNvSpPr/>
          <p:nvPr/>
        </p:nvSpPr>
        <p:spPr>
          <a:xfrm>
            <a:off x="661475" y="754360"/>
            <a:ext cx="10868745" cy="6142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2F5FA"/>
              </a:buClr>
              <a:buSzPts val="3700"/>
              <a:buFont typeface="Geist"/>
              <a:buNone/>
            </a:pPr>
            <a:r>
              <a:rPr b="1" i="0" lang="en-US" sz="3700" u="none" cap="none" strike="noStrike">
                <a:solidFill>
                  <a:srgbClr val="F2F5FA"/>
                </a:solidFill>
                <a:latin typeface="Geist"/>
                <a:ea typeface="Geist"/>
                <a:cs typeface="Geist"/>
                <a:sym typeface="Geist"/>
              </a:rPr>
              <a:t> Relevancia</a:t>
            </a:r>
            <a:endParaRPr b="0" i="0" sz="3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10"/>
          <p:cNvSpPr/>
          <p:nvPr/>
        </p:nvSpPr>
        <p:spPr>
          <a:xfrm>
            <a:off x="661475" y="1746647"/>
            <a:ext cx="3496877" cy="2083991"/>
          </a:xfrm>
          <a:prstGeom prst="roundRect">
            <a:avLst>
              <a:gd fmla="val 3809" name="adj"/>
            </a:avLst>
          </a:prstGeom>
          <a:solidFill>
            <a:srgbClr val="101620"/>
          </a:solidFill>
          <a:ln cap="flat" cmpd="sng" w="19050">
            <a:solidFill>
              <a:srgbClr val="002A8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10"/>
          <p:cNvSpPr/>
          <p:nvPr/>
        </p:nvSpPr>
        <p:spPr>
          <a:xfrm>
            <a:off x="869531" y="1954709"/>
            <a:ext cx="567021" cy="567035"/>
          </a:xfrm>
          <a:prstGeom prst="ellipse">
            <a:avLst/>
          </a:prstGeom>
          <a:solidFill>
            <a:srgbClr val="487C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53" name="Google Shape;153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5499" y="2110680"/>
            <a:ext cx="255085" cy="255091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p10"/>
          <p:cNvSpPr/>
          <p:nvPr/>
        </p:nvSpPr>
        <p:spPr>
          <a:xfrm>
            <a:off x="869531" y="2710755"/>
            <a:ext cx="3080764" cy="3070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850"/>
              <a:buFont typeface="Geist"/>
              <a:buNone/>
            </a:pPr>
            <a:r>
              <a:rPr b="1" i="0" lang="en-US" sz="185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Centralización</a:t>
            </a:r>
            <a:endParaRPr b="0" i="0" sz="1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10"/>
          <p:cNvSpPr/>
          <p:nvPr/>
        </p:nvSpPr>
        <p:spPr>
          <a:xfrm>
            <a:off x="869531" y="3131245"/>
            <a:ext cx="3080764" cy="491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450"/>
              <a:buFont typeface="Geist"/>
              <a:buNone/>
            </a:pPr>
            <a:r>
              <a:rPr b="0" i="0" lang="en-US" sz="145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Datos accesibles desde web y app mediante códigos de visualización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10"/>
          <p:cNvSpPr/>
          <p:nvPr/>
        </p:nvSpPr>
        <p:spPr>
          <a:xfrm>
            <a:off x="4347359" y="1746647"/>
            <a:ext cx="3496877" cy="2083991"/>
          </a:xfrm>
          <a:prstGeom prst="roundRect">
            <a:avLst>
              <a:gd fmla="val 3809" name="adj"/>
            </a:avLst>
          </a:prstGeom>
          <a:solidFill>
            <a:srgbClr val="101620"/>
          </a:solidFill>
          <a:ln cap="flat" cmpd="sng" w="19050">
            <a:solidFill>
              <a:srgbClr val="002A8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10"/>
          <p:cNvSpPr/>
          <p:nvPr/>
        </p:nvSpPr>
        <p:spPr>
          <a:xfrm>
            <a:off x="4555416" y="1954709"/>
            <a:ext cx="567021" cy="567035"/>
          </a:xfrm>
          <a:prstGeom prst="ellipse">
            <a:avLst/>
          </a:prstGeom>
          <a:solidFill>
            <a:srgbClr val="487C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58" name="Google Shape;158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711384" y="2110680"/>
            <a:ext cx="255085" cy="255091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10"/>
          <p:cNvSpPr/>
          <p:nvPr/>
        </p:nvSpPr>
        <p:spPr>
          <a:xfrm>
            <a:off x="4555416" y="2710755"/>
            <a:ext cx="3080764" cy="3070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850"/>
              <a:buFont typeface="Geist"/>
              <a:buNone/>
            </a:pPr>
            <a:r>
              <a:rPr b="1" i="0" lang="en-US" sz="185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Seguridad</a:t>
            </a:r>
            <a:endParaRPr b="0" i="0" sz="1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10"/>
          <p:cNvSpPr/>
          <p:nvPr/>
        </p:nvSpPr>
        <p:spPr>
          <a:xfrm>
            <a:off x="4555416" y="3131245"/>
            <a:ext cx="3080764" cy="491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450"/>
              <a:buFont typeface="Geist"/>
              <a:buNone/>
            </a:pPr>
            <a:r>
              <a:rPr b="0" i="0" lang="en-US" sz="145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Control diferenciado por roles: Admin vs Especialista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10"/>
          <p:cNvSpPr/>
          <p:nvPr/>
        </p:nvSpPr>
        <p:spPr>
          <a:xfrm>
            <a:off x="8033244" y="1746647"/>
            <a:ext cx="3496877" cy="2083991"/>
          </a:xfrm>
          <a:prstGeom prst="roundRect">
            <a:avLst>
              <a:gd fmla="val 3809" name="adj"/>
            </a:avLst>
          </a:prstGeom>
          <a:solidFill>
            <a:srgbClr val="101620"/>
          </a:solidFill>
          <a:ln cap="flat" cmpd="sng" w="19050">
            <a:solidFill>
              <a:srgbClr val="002A8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10"/>
          <p:cNvSpPr/>
          <p:nvPr/>
        </p:nvSpPr>
        <p:spPr>
          <a:xfrm>
            <a:off x="8241300" y="1954709"/>
            <a:ext cx="567021" cy="567035"/>
          </a:xfrm>
          <a:prstGeom prst="ellipse">
            <a:avLst/>
          </a:prstGeom>
          <a:solidFill>
            <a:srgbClr val="487C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63" name="Google Shape;163;p1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397268" y="2110680"/>
            <a:ext cx="255085" cy="255091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10"/>
          <p:cNvSpPr/>
          <p:nvPr/>
        </p:nvSpPr>
        <p:spPr>
          <a:xfrm>
            <a:off x="8241300" y="2710755"/>
            <a:ext cx="3080764" cy="3070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850"/>
              <a:buFont typeface="Geist"/>
              <a:buNone/>
            </a:pPr>
            <a:r>
              <a:rPr b="1" i="0" lang="en-US" sz="185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Automatización</a:t>
            </a:r>
            <a:endParaRPr b="0" i="0" sz="1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10"/>
          <p:cNvSpPr/>
          <p:nvPr/>
        </p:nvSpPr>
        <p:spPr>
          <a:xfrm>
            <a:off x="8241300" y="3131245"/>
            <a:ext cx="3080764" cy="491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450"/>
              <a:buFont typeface="Geist"/>
              <a:buNone/>
            </a:pPr>
            <a:r>
              <a:rPr b="0" i="0" lang="en-US" sz="145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Informes PDF para optimizar toma de decisiones clínicas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10"/>
          <p:cNvSpPr/>
          <p:nvPr/>
        </p:nvSpPr>
        <p:spPr>
          <a:xfrm>
            <a:off x="661475" y="4019649"/>
            <a:ext cx="5339820" cy="2083991"/>
          </a:xfrm>
          <a:prstGeom prst="roundRect">
            <a:avLst>
              <a:gd fmla="val 3809" name="adj"/>
            </a:avLst>
          </a:prstGeom>
          <a:solidFill>
            <a:srgbClr val="101620"/>
          </a:solidFill>
          <a:ln cap="flat" cmpd="sng" w="19050">
            <a:solidFill>
              <a:srgbClr val="002A8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10"/>
          <p:cNvSpPr/>
          <p:nvPr/>
        </p:nvSpPr>
        <p:spPr>
          <a:xfrm>
            <a:off x="869531" y="4227711"/>
            <a:ext cx="567021" cy="567035"/>
          </a:xfrm>
          <a:prstGeom prst="ellipse">
            <a:avLst/>
          </a:prstGeom>
          <a:solidFill>
            <a:srgbClr val="487C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68" name="Google Shape;168;p1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25499" y="4383683"/>
            <a:ext cx="255085" cy="255091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10"/>
          <p:cNvSpPr/>
          <p:nvPr/>
        </p:nvSpPr>
        <p:spPr>
          <a:xfrm>
            <a:off x="869531" y="4983758"/>
            <a:ext cx="4923707" cy="3070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850"/>
              <a:buFont typeface="Geist"/>
              <a:buNone/>
            </a:pPr>
            <a:r>
              <a:rPr b="1" i="0" lang="en-US" sz="185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Escalabilidad</a:t>
            </a:r>
            <a:endParaRPr b="0" i="0" sz="1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0"/>
          <p:cNvSpPr/>
          <p:nvPr/>
        </p:nvSpPr>
        <p:spPr>
          <a:xfrm>
            <a:off x="869531" y="5404247"/>
            <a:ext cx="4923707" cy="491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450"/>
              <a:buFont typeface="Geist"/>
              <a:buNone/>
            </a:pPr>
            <a:r>
              <a:rPr b="0" i="0" lang="en-US" sz="145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Infraestructura cloud preparada para crecimiento nacional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10"/>
          <p:cNvSpPr/>
          <p:nvPr/>
        </p:nvSpPr>
        <p:spPr>
          <a:xfrm>
            <a:off x="6190301" y="4019649"/>
            <a:ext cx="5339820" cy="2083991"/>
          </a:xfrm>
          <a:prstGeom prst="roundRect">
            <a:avLst>
              <a:gd fmla="val 3809" name="adj"/>
            </a:avLst>
          </a:prstGeom>
          <a:solidFill>
            <a:srgbClr val="101620"/>
          </a:solidFill>
          <a:ln cap="flat" cmpd="sng" w="19050">
            <a:solidFill>
              <a:srgbClr val="002A8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10"/>
          <p:cNvSpPr/>
          <p:nvPr/>
        </p:nvSpPr>
        <p:spPr>
          <a:xfrm>
            <a:off x="6398358" y="4227711"/>
            <a:ext cx="567021" cy="567035"/>
          </a:xfrm>
          <a:prstGeom prst="ellipse">
            <a:avLst/>
          </a:prstGeom>
          <a:solidFill>
            <a:srgbClr val="487C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73" name="Google Shape;173;p10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554326" y="4383683"/>
            <a:ext cx="255085" cy="255091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10"/>
          <p:cNvSpPr/>
          <p:nvPr/>
        </p:nvSpPr>
        <p:spPr>
          <a:xfrm>
            <a:off x="6398358" y="4983758"/>
            <a:ext cx="4923707" cy="3070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850"/>
              <a:buFont typeface="Geist"/>
              <a:buNone/>
            </a:pPr>
            <a:r>
              <a:rPr b="1" i="0" lang="en-US" sz="185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Impacto Curricular</a:t>
            </a:r>
            <a:endParaRPr b="0" i="0" sz="1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0"/>
          <p:cNvSpPr/>
          <p:nvPr/>
        </p:nvSpPr>
        <p:spPr>
          <a:xfrm>
            <a:off x="6398358" y="5404247"/>
            <a:ext cx="4923707" cy="491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450"/>
              <a:buFont typeface="Geist"/>
              <a:buNone/>
            </a:pPr>
            <a:r>
              <a:rPr b="0" i="0" lang="en-US" sz="145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Experiencia real conectando hardware externo con arquitecturas AWS complejas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f9db753baf_1_0"/>
          <p:cNvSpPr/>
          <p:nvPr/>
        </p:nvSpPr>
        <p:spPr>
          <a:xfrm>
            <a:off x="661475" y="868462"/>
            <a:ext cx="10868700" cy="6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2F5FA"/>
              </a:buClr>
              <a:buSzPts val="3700"/>
              <a:buFont typeface="Geist"/>
              <a:buNone/>
            </a:pPr>
            <a:r>
              <a:rPr b="1" lang="en-US" sz="3700">
                <a:solidFill>
                  <a:srgbClr val="F2F5FA"/>
                </a:solidFill>
                <a:latin typeface="Geist"/>
                <a:ea typeface="Geist"/>
                <a:cs typeface="Geist"/>
                <a:sym typeface="Geist"/>
              </a:rPr>
              <a:t>Repositorio</a:t>
            </a:r>
            <a:endParaRPr b="0" i="0" sz="3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white cat is in a blue circle with a tail (proporcionado por Tenor)" id="182" name="Google Shape;182;g3f9db753baf_1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809925" y="1482842"/>
            <a:ext cx="4187875" cy="4187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83" name="Google Shape;183;g3f9db753baf_1_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59305" y="2474936"/>
            <a:ext cx="4905944" cy="2040700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g3f9db753baf_1_0"/>
          <p:cNvSpPr/>
          <p:nvPr/>
        </p:nvSpPr>
        <p:spPr>
          <a:xfrm>
            <a:off x="1577599" y="2894451"/>
            <a:ext cx="3868200" cy="120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3620"/>
              <a:buFont typeface="Geist"/>
              <a:buNone/>
            </a:pPr>
            <a:r>
              <a:rPr b="1" lang="en-US" sz="25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Link GitHub</a:t>
            </a:r>
            <a:endParaRPr b="1" i="0" sz="2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2026-08-30T23:35:12Z</dcterms:created>
</cp:coreProperties>
</file>