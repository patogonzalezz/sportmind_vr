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1675"/>
  <p:notesSz cx="6858000" cy="12191675"/>
  <p:embeddedFontLst>
    <p:embeddedFont>
      <p:font typeface="Geist"/>
      <p:bold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P2gI5VULHL/gP0Nw1iaZdIwOQ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Geist-boldItalic.fntdata"/><Relationship Id="rId16" Type="http://schemas.openxmlformats.org/officeDocument/2006/relationships/font" Target="fonts/Geist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22.png"/><Relationship Id="rId7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jpg"/><Relationship Id="rId4" Type="http://schemas.openxmlformats.org/officeDocument/2006/relationships/image" Target="../media/image19.png"/><Relationship Id="rId5" Type="http://schemas.openxmlformats.org/officeDocument/2006/relationships/image" Target="../media/image21.png"/><Relationship Id="rId6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1215" y="0"/>
            <a:ext cx="4800480" cy="6858000"/>
          </a:xfrm>
          <a:custGeom>
            <a:rect b="b" l="l" r="r" t="t"/>
            <a:pathLst>
              <a:path extrusionOk="0" h="100000" w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1" name="Google Shape;21;p1"/>
          <p:cNvSpPr/>
          <p:nvPr/>
        </p:nvSpPr>
        <p:spPr>
          <a:xfrm>
            <a:off x="661475" y="2505273"/>
            <a:ext cx="6296860" cy="614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700"/>
              <a:buFont typeface="Geist"/>
              <a:buNone/>
            </a:pPr>
            <a:r>
              <a:rPr b="1" i="0" lang="en-US" sz="37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Sport Mind VR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61475" y="3403005"/>
            <a:ext cx="6296860" cy="949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Plataforma de Regulación Emocional para Deportistas de Alto Rendimiento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1650"/>
              </a:spcBef>
              <a:spcAft>
                <a:spcPts val="0"/>
              </a:spcAft>
              <a:buClr>
                <a:srgbClr val="FBBF24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FBBF24"/>
                </a:solidFill>
                <a:latin typeface="Geist"/>
                <a:ea typeface="Geist"/>
                <a:cs typeface="Geist"/>
                <a:sym typeface="Geist"/>
              </a:rPr>
              <a:t>Patricio González • Matías Díaz • Francisco Bilbao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800480" cy="6858000"/>
          </a:xfrm>
          <a:custGeom>
            <a:rect b="b" l="l" r="r" t="t"/>
            <a:pathLst>
              <a:path extrusionOk="0" h="100000" w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9" name="Google Shape;29;p2"/>
          <p:cNvSpPr/>
          <p:nvPr/>
        </p:nvSpPr>
        <p:spPr>
          <a:xfrm>
            <a:off x="5233360" y="660896"/>
            <a:ext cx="6296860" cy="5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350"/>
              <a:buFont typeface="Geist"/>
              <a:buNone/>
            </a:pPr>
            <a:r>
              <a:rPr b="1" i="0" lang="en-US" sz="33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El Proyecto</a:t>
            </a:r>
            <a:endParaRPr b="0" i="0" sz="3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233360" y="1450280"/>
            <a:ext cx="6296860" cy="1176437"/>
          </a:xfrm>
          <a:prstGeom prst="roundRect">
            <a:avLst>
              <a:gd fmla="val 6116" name="adj"/>
            </a:avLst>
          </a:prstGeom>
          <a:solidFill>
            <a:srgbClr val="101620"/>
          </a:solidFill>
          <a:ln cap="flat" cmpd="sng" w="190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5423657" y="1640582"/>
            <a:ext cx="5916266" cy="278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650"/>
              <a:buFont typeface="Geist"/>
              <a:buNone/>
            </a:pPr>
            <a:r>
              <a:rPr b="1" i="0" lang="en-US" sz="16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Objetivo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423657" y="2011958"/>
            <a:ext cx="5916266" cy="4244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Diseñar, implementar y validar un modelo de IA para regulación emocional mediante realidad virtual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233360" y="2781895"/>
            <a:ext cx="6296860" cy="1176437"/>
          </a:xfrm>
          <a:prstGeom prst="roundRect">
            <a:avLst>
              <a:gd fmla="val 6116" name="adj"/>
            </a:avLst>
          </a:prstGeom>
          <a:solidFill>
            <a:srgbClr val="101620"/>
          </a:solidFill>
          <a:ln cap="flat" cmpd="sng" w="190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5423657" y="2972197"/>
            <a:ext cx="5916266" cy="278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650"/>
              <a:buFont typeface="Geist"/>
              <a:buNone/>
            </a:pPr>
            <a:r>
              <a:rPr b="1" i="0" lang="en-US" sz="16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Población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423657" y="3343573"/>
            <a:ext cx="5916266" cy="4244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Deportistas de alto rendimiento en centros de entrenamiento regional y nacional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233360" y="4113510"/>
            <a:ext cx="6296860" cy="964208"/>
          </a:xfrm>
          <a:prstGeom prst="roundRect">
            <a:avLst>
              <a:gd fmla="val 7462" name="adj"/>
            </a:avLst>
          </a:prstGeom>
          <a:solidFill>
            <a:srgbClr val="101620"/>
          </a:solidFill>
          <a:ln cap="flat" cmpd="sng" w="190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5423657" y="4303812"/>
            <a:ext cx="5916266" cy="278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650"/>
              <a:buFont typeface="Geist"/>
              <a:buNone/>
            </a:pPr>
            <a:r>
              <a:rPr b="1" i="0" lang="en-US" sz="16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Diferenciador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423657" y="4675188"/>
            <a:ext cx="5916266" cy="212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Arquitectura multicanal: VR + Dashboard Web + App Escritorio + AWS Cloud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233360" y="5232896"/>
            <a:ext cx="6296860" cy="964208"/>
          </a:xfrm>
          <a:prstGeom prst="roundRect">
            <a:avLst>
              <a:gd fmla="val 7462" name="adj"/>
            </a:avLst>
          </a:prstGeom>
          <a:solidFill>
            <a:srgbClr val="101620"/>
          </a:solidFill>
          <a:ln cap="flat" cmpd="sng" w="190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5423657" y="5423198"/>
            <a:ext cx="5916266" cy="278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650"/>
              <a:buFont typeface="Geist"/>
              <a:buNone/>
            </a:pPr>
            <a:r>
              <a:rPr b="1" i="0" lang="en-US" sz="16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Impacto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423657" y="5794573"/>
            <a:ext cx="5916266" cy="212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Herramientas de desestrés y plataforma estructurada para especialistas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/>
          <p:nvPr/>
        </p:nvSpPr>
        <p:spPr>
          <a:xfrm>
            <a:off x="661475" y="1123255"/>
            <a:ext cx="10868745" cy="614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700"/>
              <a:buFont typeface="Geist"/>
              <a:buNone/>
            </a:pPr>
            <a:r>
              <a:rPr b="1" i="0" lang="en-US" sz="37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Áreas de Desempeño </a:t>
            </a:r>
            <a:r>
              <a:rPr b="1" i="0" lang="en-US" sz="3700" u="none" cap="none" strike="noStrike">
                <a:solidFill>
                  <a:srgbClr val="FBBF24"/>
                </a:solidFill>
                <a:latin typeface="Geist"/>
                <a:ea typeface="Geist"/>
                <a:cs typeface="Geist"/>
                <a:sym typeface="Geist"/>
              </a:rPr>
              <a:t>&amp;</a:t>
            </a:r>
            <a:r>
              <a:rPr b="1" i="0" lang="en-US" sz="37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 Competencias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" name="Google Shape;4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115542"/>
            <a:ext cx="472468" cy="47248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"/>
          <p:cNvSpPr/>
          <p:nvPr/>
        </p:nvSpPr>
        <p:spPr>
          <a:xfrm>
            <a:off x="661475" y="2824262"/>
            <a:ext cx="5316206" cy="30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IA &amp; LLM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661475" y="3244751"/>
            <a:ext cx="5316206" cy="491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Clasificación de estados emocionales con datos mixtos en tiempo real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" name="Google Shape;5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3915" y="2115542"/>
            <a:ext cx="472468" cy="47248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3"/>
          <p:cNvSpPr/>
          <p:nvPr/>
        </p:nvSpPr>
        <p:spPr>
          <a:xfrm>
            <a:off x="6213915" y="2824262"/>
            <a:ext cx="5316305" cy="30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Realidad Virtual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6213915" y="3244751"/>
            <a:ext cx="5316305" cy="491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Entornos inmersivos con Meta Quest 3 para regulación emocional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" name="Google Shape;5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475" y="4114105"/>
            <a:ext cx="472468" cy="47248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3"/>
          <p:cNvSpPr/>
          <p:nvPr/>
        </p:nvSpPr>
        <p:spPr>
          <a:xfrm>
            <a:off x="661475" y="4822825"/>
            <a:ext cx="5316206" cy="30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Programación Web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61475" y="5243314"/>
            <a:ext cx="5316206" cy="491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Dashboard interactivo y APIs REST para monitoreo especializado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" name="Google Shape;5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3915" y="4114105"/>
            <a:ext cx="472468" cy="47248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"/>
          <p:cNvSpPr/>
          <p:nvPr/>
        </p:nvSpPr>
        <p:spPr>
          <a:xfrm>
            <a:off x="6213915" y="4822825"/>
            <a:ext cx="5316305" cy="30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Cloud Computing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213915" y="5243314"/>
            <a:ext cx="5316305" cy="491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Infraestructura escalable: AWS Lambda, DynamoDB, S3, Cognito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/>
          <p:nvPr/>
        </p:nvSpPr>
        <p:spPr>
          <a:xfrm>
            <a:off x="661475" y="552351"/>
            <a:ext cx="10868745" cy="604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650"/>
              <a:buFont typeface="Geist"/>
              <a:buNone/>
            </a:pPr>
            <a:r>
              <a:rPr b="1" i="0" lang="en-US" sz="36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Descripción Técnica </a:t>
            </a:r>
            <a:r>
              <a:rPr b="1" i="0" lang="en-US" sz="3650" u="none" cap="none" strike="noStrike">
                <a:solidFill>
                  <a:srgbClr val="FBBF24"/>
                </a:solidFill>
                <a:latin typeface="Geist"/>
                <a:ea typeface="Geist"/>
                <a:cs typeface="Geist"/>
                <a:sym typeface="Geist"/>
              </a:rPr>
              <a:t>&amp;</a:t>
            </a:r>
            <a:r>
              <a:rPr b="1" i="0" lang="en-US" sz="36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 Seguridad</a:t>
            </a:r>
            <a:endParaRPr b="0" i="0" sz="3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" name="Google Shape;6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911945"/>
            <a:ext cx="6905849" cy="3913386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4"/>
          <p:cNvSpPr/>
          <p:nvPr/>
        </p:nvSpPr>
        <p:spPr>
          <a:xfrm>
            <a:off x="8027489" y="1614884"/>
            <a:ext cx="3509081" cy="302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800"/>
              <a:buFont typeface="Geist"/>
              <a:buNone/>
            </a:pPr>
            <a:r>
              <a:rPr b="1" i="0" lang="en-US" sz="18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Flujo de Sesión VR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8027489" y="2100362"/>
            <a:ext cx="3509081" cy="959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Meta Quest 3 captura métricas fisiológicas y conductuales en tiempo real. Un </a:t>
            </a:r>
            <a:r>
              <a:rPr b="1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código de visualización</a:t>
            </a: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vincula cada sesión con el especialista asignado.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8027489" y="3243163"/>
            <a:ext cx="3509081" cy="302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800"/>
              <a:buFont typeface="Geist"/>
              <a:buNone/>
            </a:pPr>
            <a:r>
              <a:rPr b="1" i="0" lang="en-US" sz="18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Roles del Sistema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8027489" y="3728641"/>
            <a:ext cx="3509081" cy="1023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425">
            <a:normAutofit/>
          </a:bodyPr>
          <a:lstStyle/>
          <a:p>
            <a:pPr indent="-294640" lvl="0" marL="29464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Char char="•"/>
            </a:pPr>
            <a:r>
              <a:rPr b="1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Especialista:</a:t>
            </a: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Análisis y diagnóstico automatizado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Char char="•"/>
            </a:pPr>
            <a:r>
              <a:rPr b="1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Administrador:</a:t>
            </a: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Gestión y aprobación de accesos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8027489" y="4935538"/>
            <a:ext cx="3509081" cy="302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800"/>
              <a:buFont typeface="Geist"/>
              <a:buNone/>
            </a:pPr>
            <a:r>
              <a:rPr b="1" i="0" lang="en-US" sz="18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Seguridad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8027489" y="5421015"/>
            <a:ext cx="3509081" cy="7197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Amazon Cognito gestiona autenticación y permisos basados en roles para protección integral de datos sensibles.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/>
          <p:nvPr/>
        </p:nvSpPr>
        <p:spPr>
          <a:xfrm>
            <a:off x="661475" y="531614"/>
            <a:ext cx="10868745" cy="575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450"/>
              <a:buFont typeface="Geist"/>
              <a:buNone/>
            </a:pPr>
            <a:r>
              <a:rPr b="1" i="0" lang="en-US" sz="34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Objetivos del Proyecto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61475" y="1522710"/>
            <a:ext cx="5218280" cy="287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700"/>
              <a:buFont typeface="Geist"/>
              <a:buNone/>
            </a:pPr>
            <a:r>
              <a:rPr b="1" i="0" lang="en-US" sz="17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Objetivo General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661475" y="1976735"/>
            <a:ext cx="5218280" cy="669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350"/>
              <a:buFont typeface="Geist"/>
              <a:buNone/>
            </a:pPr>
            <a:r>
              <a:rPr b="0" i="0" lang="en-US" sz="13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Diseñar, implementar y validar un modelo de IA con datos mixtos para clasificación emocional mediante prototipo de realidad virtual orientado a deportistas de alto rendimiento.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318290" y="1543447"/>
            <a:ext cx="398651" cy="398661"/>
          </a:xfrm>
          <a:prstGeom prst="roundRect">
            <a:avLst>
              <a:gd fmla="val 18669" name="adj"/>
            </a:avLst>
          </a:prstGeom>
          <a:solidFill>
            <a:srgbClr val="101620"/>
          </a:solidFill>
          <a:ln cap="flat" cmpd="sng" w="190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6384716" y="1570038"/>
            <a:ext cx="265800" cy="345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050"/>
              <a:buFont typeface="Geist"/>
              <a:buNone/>
            </a:pPr>
            <a:r>
              <a:rPr b="1" i="0" lang="en-US" sz="20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1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883029" y="1598811"/>
            <a:ext cx="4653541" cy="287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00"/>
              <a:buFont typeface="Geist"/>
              <a:buNone/>
            </a:pPr>
            <a:r>
              <a:rPr b="1" i="0" lang="en-US" sz="17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Modelo de IA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883029" y="2052836"/>
            <a:ext cx="4653541" cy="446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350"/>
              <a:buFont typeface="Geist"/>
              <a:buNone/>
            </a:pPr>
            <a:r>
              <a:rPr b="0" i="0" lang="en-US" sz="13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Entrenar clasificador de estados emocionales en tiempo real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318290" y="2831306"/>
            <a:ext cx="398651" cy="398661"/>
          </a:xfrm>
          <a:prstGeom prst="roundRect">
            <a:avLst>
              <a:gd fmla="val 18669" name="adj"/>
            </a:avLst>
          </a:prstGeom>
          <a:solidFill>
            <a:srgbClr val="101620"/>
          </a:solidFill>
          <a:ln cap="flat" cmpd="sng" w="190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6384716" y="2857897"/>
            <a:ext cx="265800" cy="345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050"/>
              <a:buFont typeface="Geist"/>
              <a:buNone/>
            </a:pPr>
            <a:r>
              <a:rPr b="1" i="0" lang="en-US" sz="20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2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6883029" y="2886670"/>
            <a:ext cx="4653541" cy="287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00"/>
              <a:buFont typeface="Geist"/>
              <a:buNone/>
            </a:pPr>
            <a:r>
              <a:rPr b="1" i="0" lang="en-US" sz="17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Prototipo VR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6883029" y="3340695"/>
            <a:ext cx="4653541" cy="446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350"/>
              <a:buFont typeface="Geist"/>
              <a:buNone/>
            </a:pPr>
            <a:r>
              <a:rPr b="0" i="0" lang="en-US" sz="13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Desarrollar entorno con recolección de métricas integrada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318290" y="4119166"/>
            <a:ext cx="398651" cy="398661"/>
          </a:xfrm>
          <a:prstGeom prst="roundRect">
            <a:avLst>
              <a:gd fmla="val 18669" name="adj"/>
            </a:avLst>
          </a:prstGeom>
          <a:solidFill>
            <a:srgbClr val="101620"/>
          </a:solidFill>
          <a:ln cap="flat" cmpd="sng" w="190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6384716" y="4145756"/>
            <a:ext cx="265800" cy="345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050"/>
              <a:buFont typeface="Geist"/>
              <a:buNone/>
            </a:pPr>
            <a:r>
              <a:rPr b="1" i="0" lang="en-US" sz="20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3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6883029" y="4174530"/>
            <a:ext cx="4653541" cy="287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00"/>
              <a:buFont typeface="Geist"/>
              <a:buNone/>
            </a:pPr>
            <a:r>
              <a:rPr b="1" i="0" lang="en-US" sz="17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Backend Serverless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6883029" y="4628555"/>
            <a:ext cx="4653541" cy="446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350"/>
              <a:buFont typeface="Geist"/>
              <a:buNone/>
            </a:pPr>
            <a:r>
              <a:rPr b="0" i="0" lang="en-US" sz="13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Construir arquitectura AWS con Dashboard y seguridad Cognito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6318290" y="5407025"/>
            <a:ext cx="398651" cy="398661"/>
          </a:xfrm>
          <a:prstGeom prst="roundRect">
            <a:avLst>
              <a:gd fmla="val 18669" name="adj"/>
            </a:avLst>
          </a:prstGeom>
          <a:solidFill>
            <a:srgbClr val="101620"/>
          </a:solidFill>
          <a:ln cap="flat" cmpd="sng" w="190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6384716" y="5433616"/>
            <a:ext cx="265800" cy="345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050"/>
              <a:buFont typeface="Geist"/>
              <a:buNone/>
            </a:pPr>
            <a:r>
              <a:rPr b="1" i="0" lang="en-US" sz="20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4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883029" y="5462389"/>
            <a:ext cx="4653541" cy="287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00"/>
              <a:buFont typeface="Geist"/>
              <a:buNone/>
            </a:pPr>
            <a:r>
              <a:rPr b="1" i="0" lang="en-US" sz="17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Validación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883029" y="5916414"/>
            <a:ext cx="4653541" cy="2231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350"/>
              <a:buFont typeface="Geist"/>
              <a:buNone/>
            </a:pPr>
            <a:r>
              <a:rPr b="0" i="0" lang="en-US" sz="13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Pruebas con deportistas de alto rendimiento reales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800480" cy="6858000"/>
          </a:xfrm>
          <a:custGeom>
            <a:rect b="b" l="l" r="r" t="t"/>
            <a:pathLst>
              <a:path extrusionOk="0" h="100000" w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03" name="Google Shape;103;p6"/>
          <p:cNvSpPr/>
          <p:nvPr/>
        </p:nvSpPr>
        <p:spPr>
          <a:xfrm>
            <a:off x="5233360" y="794445"/>
            <a:ext cx="6296860" cy="614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700"/>
              <a:buFont typeface="Geist"/>
              <a:buNone/>
            </a:pPr>
            <a:r>
              <a:rPr b="1" i="0" lang="en-US" sz="37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Metodología </a:t>
            </a:r>
            <a:r>
              <a:rPr b="1" i="0" lang="en-US" sz="3700" u="none" cap="none" strike="noStrike">
                <a:solidFill>
                  <a:srgbClr val="FBBF24"/>
                </a:solidFill>
                <a:latin typeface="Geist"/>
                <a:ea typeface="Geist"/>
                <a:cs typeface="Geist"/>
                <a:sym typeface="Geist"/>
              </a:rPr>
              <a:t>&amp;</a:t>
            </a:r>
            <a:r>
              <a:rPr b="1" i="0" lang="en-US" sz="37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 Equipo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5233360" y="1692176"/>
            <a:ext cx="2845919" cy="287139"/>
          </a:xfrm>
          <a:prstGeom prst="roundRect">
            <a:avLst>
              <a:gd fmla="val 22118" name="adj"/>
            </a:avLst>
          </a:prstGeom>
          <a:solidFill>
            <a:srgbClr val="001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5346765" y="1748830"/>
            <a:ext cx="3228696" cy="173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150"/>
              <a:buFont typeface="Geist"/>
              <a:buNone/>
            </a:pPr>
            <a:r>
              <a:rPr b="0" i="0" lang="en-US" sz="11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SCRUM ÁGIL · 18 SEMANAS · 3 FASES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5233360" y="2191941"/>
            <a:ext cx="3053877" cy="1964134"/>
          </a:xfrm>
          <a:prstGeom prst="roundRect">
            <a:avLst>
              <a:gd fmla="val 4042" name="adj"/>
            </a:avLst>
          </a:prstGeom>
          <a:solidFill>
            <a:srgbClr val="101620">
              <a:alpha val="94902"/>
            </a:srgbClr>
          </a:solidFill>
          <a:ln cap="flat" cmpd="sng" w="2537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5447767" y="2406352"/>
            <a:ext cx="2625064" cy="30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Patricio González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5447767" y="2826841"/>
            <a:ext cx="2625064" cy="869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600">
            <a:normAutofit/>
          </a:bodyPr>
          <a:lstStyle/>
          <a:p>
            <a:pPr indent="-294640" lvl="0" marL="29464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Char char="•"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Cliente Escritorio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Char char="•"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Dashboard Web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Char char="•"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Visualización de Métricas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8476244" y="2191941"/>
            <a:ext cx="3053976" cy="1964134"/>
          </a:xfrm>
          <a:prstGeom prst="roundRect">
            <a:avLst>
              <a:gd fmla="val 4042" name="adj"/>
            </a:avLst>
          </a:prstGeom>
          <a:solidFill>
            <a:srgbClr val="101620">
              <a:alpha val="94902"/>
            </a:srgbClr>
          </a:solidFill>
          <a:ln cap="flat" cmpd="sng" w="2537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8690651" y="2406352"/>
            <a:ext cx="2625163" cy="30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Matías Díaz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8690651" y="2826841"/>
            <a:ext cx="2625163" cy="1114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600">
            <a:normAutofit/>
          </a:bodyPr>
          <a:lstStyle/>
          <a:p>
            <a:pPr indent="-294640" lvl="0" marL="29464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Char char="•"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Integración VR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Char char="•"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Captura de Métricas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Char char="•"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Informes PDF · Documentación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5233360" y="4345087"/>
            <a:ext cx="6296860" cy="1718469"/>
          </a:xfrm>
          <a:prstGeom prst="roundRect">
            <a:avLst>
              <a:gd fmla="val 4620" name="adj"/>
            </a:avLst>
          </a:prstGeom>
          <a:solidFill>
            <a:srgbClr val="101620">
              <a:alpha val="94902"/>
            </a:srgbClr>
          </a:solidFill>
          <a:ln cap="flat" cmpd="sng" w="2537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5447767" y="4559498"/>
            <a:ext cx="5868047" cy="30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Francisco Bilbao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5447767" y="4979988"/>
            <a:ext cx="5868047" cy="869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600">
            <a:normAutofit/>
          </a:bodyPr>
          <a:lstStyle/>
          <a:p>
            <a:pPr indent="-294640" lvl="0" marL="29464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Char char="•"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Backend Serverless (Lambda)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Char char="•"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APIs REST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Char char="•"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Infraestructura AWS · Cognito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/>
          <p:nvPr/>
        </p:nvSpPr>
        <p:spPr>
          <a:xfrm>
            <a:off x="661475" y="519807"/>
            <a:ext cx="10868745" cy="316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900"/>
              <a:buFont typeface="Geist"/>
              <a:buNone/>
            </a:pPr>
            <a:r>
              <a:rPr b="1" i="0" lang="en-US" sz="19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Arquitectura Técnica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1" name="Google Shape;12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968276"/>
            <a:ext cx="5315512" cy="531564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7"/>
          <p:cNvSpPr/>
          <p:nvPr/>
        </p:nvSpPr>
        <p:spPr>
          <a:xfrm>
            <a:off x="6221050" y="1379059"/>
            <a:ext cx="5315400" cy="10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950"/>
              <a:buFont typeface="Geist"/>
              <a:buNone/>
            </a:pPr>
            <a:r>
              <a:rPr b="1" i="0" lang="en-US" sz="21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Stack Tecnológico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6221050" y="2281525"/>
            <a:ext cx="5574000" cy="21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975">
            <a:normAutofit/>
          </a:bodyPr>
          <a:lstStyle/>
          <a:p>
            <a:pPr indent="-209550" lvl="0" marL="152400" marR="0" rtl="0"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650"/>
              <a:buFont typeface="Geist"/>
              <a:buChar char="•"/>
            </a:pPr>
            <a:r>
              <a:rPr b="1" i="0" lang="en-US" sz="16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Frontend:</a:t>
            </a:r>
            <a:r>
              <a:rPr b="0" i="0" lang="en-US" sz="16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Dashboard Web + App Escritorio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0" marL="152400" marR="0" rtl="0"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650"/>
              <a:buFont typeface="Geist"/>
              <a:buChar char="•"/>
            </a:pPr>
            <a:r>
              <a:rPr b="1" i="0" lang="en-US" sz="16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Backend:</a:t>
            </a:r>
            <a:r>
              <a:rPr b="0" i="0" lang="en-US" sz="16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AWS Lambda + API Gateway REST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0" marL="152400" marR="0" rtl="0"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650"/>
              <a:buFont typeface="Geist"/>
              <a:buChar char="•"/>
            </a:pPr>
            <a:r>
              <a:rPr b="1" i="0" lang="en-US" sz="16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Datos:</a:t>
            </a:r>
            <a:r>
              <a:rPr b="0" i="0" lang="en-US" sz="16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DynamoDB + S3 (reportes y multimedia)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0" marL="152400" marR="0" rtl="0"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650"/>
              <a:buFont typeface="Geist"/>
              <a:buChar char="•"/>
            </a:pPr>
            <a:r>
              <a:rPr b="1" i="0" lang="en-US" sz="16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Seguridad:</a:t>
            </a:r>
            <a:r>
              <a:rPr b="0" i="0" lang="en-US" sz="16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Amazon Cognito (control de acceso por roles)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0" marL="152400" marR="0" rtl="0"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650"/>
              <a:buFont typeface="Geist"/>
              <a:buChar char="•"/>
            </a:pPr>
            <a:r>
              <a:rPr b="1" i="0" lang="en-US" sz="16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Integración:</a:t>
            </a:r>
            <a:r>
              <a:rPr b="0" i="0" lang="en-US" sz="16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Pipelines Meta Quest 3 en tiempo real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0" marL="152400" marR="0" rtl="0"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650"/>
              <a:buFont typeface="Geist"/>
              <a:buChar char="•"/>
            </a:pPr>
            <a:r>
              <a:rPr b="1" i="0" lang="en-US" sz="16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Reportes:</a:t>
            </a:r>
            <a:r>
              <a:rPr b="0" i="0" lang="en-US" sz="16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Generación y descarga automatizada de PDF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/>
          <p:nvPr/>
        </p:nvSpPr>
        <p:spPr>
          <a:xfrm>
            <a:off x="661475" y="519807"/>
            <a:ext cx="10868745" cy="30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Cronograma: 3 Fases en 18 Semanas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0" name="Google Shape;13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0864" y="445420"/>
            <a:ext cx="10058642" cy="486489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8"/>
          <p:cNvSpPr/>
          <p:nvPr/>
        </p:nvSpPr>
        <p:spPr>
          <a:xfrm>
            <a:off x="1867071" y="3584350"/>
            <a:ext cx="24456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900"/>
              <a:buFont typeface="Geist"/>
              <a:buNone/>
            </a:pPr>
            <a:r>
              <a:rPr b="1" i="0" lang="en-US" sz="19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Fase 3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1867071" y="3989219"/>
            <a:ext cx="37281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500"/>
              <a:buFont typeface="Geist"/>
              <a:buNone/>
            </a:pPr>
            <a:r>
              <a:rPr b="0" i="0" lang="en-US" sz="15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Sem.16-18: Integración, doc. y defensa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1867071" y="2399633"/>
            <a:ext cx="24456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900"/>
              <a:buFont typeface="Geist"/>
              <a:buNone/>
            </a:pPr>
            <a:r>
              <a:rPr b="1" i="0" lang="en-US" sz="19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Fase 2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1867071" y="2804502"/>
            <a:ext cx="37281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500"/>
              <a:buFont typeface="Geist"/>
              <a:buNone/>
            </a:pPr>
            <a:r>
              <a:rPr b="0" i="0" lang="en-US" sz="15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Sem.5-15: Desarrollo paralelo y pruebas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1867071" y="1214916"/>
            <a:ext cx="24456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900"/>
              <a:buFont typeface="Geist"/>
              <a:buNone/>
            </a:pPr>
            <a:r>
              <a:rPr b="1" i="0" lang="en-US" sz="19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Fase 1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1867071" y="1619784"/>
            <a:ext cx="37281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500"/>
              <a:buFont typeface="Geist"/>
              <a:buNone/>
            </a:pPr>
            <a:r>
              <a:rPr b="0" i="0" lang="en-US" sz="15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Sem.1-4: Requisitos y arquitectura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592100" y="5310321"/>
            <a:ext cx="10868700" cy="938700"/>
          </a:xfrm>
          <a:prstGeom prst="roundRect">
            <a:avLst>
              <a:gd fmla="val 4229" name="adj"/>
            </a:avLst>
          </a:prstGeom>
          <a:solidFill>
            <a:srgbClr val="101620"/>
          </a:solidFill>
          <a:ln cap="flat" cmpd="sng" w="952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8" name="Google Shape;138;p8"/>
          <p:cNvSpPr/>
          <p:nvPr/>
        </p:nvSpPr>
        <p:spPr>
          <a:xfrm>
            <a:off x="598450" y="5316671"/>
            <a:ext cx="5428023" cy="462955"/>
          </a:xfrm>
          <a:custGeom>
            <a:rect b="b" l="l" r="r" t="t"/>
            <a:pathLst>
              <a:path extrusionOk="0" h="462955" w="5428023">
                <a:moveTo>
                  <a:pt x="33078" y="0"/>
                </a:moveTo>
                <a:lnTo>
                  <a:pt x="5428023" y="0"/>
                </a:lnTo>
                <a:lnTo>
                  <a:pt x="5428023" y="462955"/>
                </a:lnTo>
                <a:lnTo>
                  <a:pt x="0" y="462955"/>
                </a:lnTo>
                <a:lnTo>
                  <a:pt x="0" y="33079"/>
                </a:lnTo>
                <a:cubicBezTo>
                  <a:pt x="0" y="14810"/>
                  <a:pt x="14810" y="0"/>
                  <a:pt x="33078" y="0"/>
                </a:cubicBezTo>
                <a:close/>
              </a:path>
            </a:pathLst>
          </a:custGeom>
          <a:solidFill>
            <a:srgbClr val="10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9" name="Google Shape;139;p8"/>
          <p:cNvSpPr/>
          <p:nvPr/>
        </p:nvSpPr>
        <p:spPr>
          <a:xfrm>
            <a:off x="692904" y="5411127"/>
            <a:ext cx="52392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900"/>
              <a:buFont typeface="Geist"/>
              <a:buNone/>
            </a:pPr>
            <a:r>
              <a:rPr b="1" i="0" lang="en-US" sz="11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Entregables Clave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692904" y="5592995"/>
            <a:ext cx="5239200" cy="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700"/>
              <a:buFont typeface="Geist"/>
              <a:buNone/>
            </a:pPr>
            <a:r>
              <a:rPr b="0" i="0" lang="en-US" sz="9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Arquitectura validada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6026473" y="5316671"/>
            <a:ext cx="5428023" cy="462955"/>
          </a:xfrm>
          <a:custGeom>
            <a:rect b="b" l="l" r="r" t="t"/>
            <a:pathLst>
              <a:path extrusionOk="0" h="462955" w="5428023">
                <a:moveTo>
                  <a:pt x="0" y="0"/>
                </a:moveTo>
                <a:lnTo>
                  <a:pt x="5394945" y="0"/>
                </a:lnTo>
                <a:cubicBezTo>
                  <a:pt x="5403718" y="0"/>
                  <a:pt x="5412131" y="3485"/>
                  <a:pt x="5418335" y="9689"/>
                </a:cubicBezTo>
                <a:cubicBezTo>
                  <a:pt x="5424538" y="15892"/>
                  <a:pt x="5428023" y="24306"/>
                  <a:pt x="5428023" y="33079"/>
                </a:cubicBezTo>
                <a:lnTo>
                  <a:pt x="5428023" y="462955"/>
                </a:lnTo>
                <a:lnTo>
                  <a:pt x="0" y="462955"/>
                </a:lnTo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2" name="Google Shape;142;p8"/>
          <p:cNvSpPr/>
          <p:nvPr/>
        </p:nvSpPr>
        <p:spPr>
          <a:xfrm>
            <a:off x="6026473" y="5316671"/>
            <a:ext cx="12600" cy="462900"/>
          </a:xfrm>
          <a:prstGeom prst="roundRect">
            <a:avLst>
              <a:gd fmla="val 49999" name="adj"/>
            </a:avLst>
          </a:prstGeom>
          <a:solidFill>
            <a:srgbClr val="002A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3" name="Google Shape;143;p8"/>
          <p:cNvSpPr/>
          <p:nvPr/>
        </p:nvSpPr>
        <p:spPr>
          <a:xfrm>
            <a:off x="6120926" y="5411127"/>
            <a:ext cx="52392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900"/>
              <a:buFont typeface="Geist"/>
              <a:buNone/>
            </a:pPr>
            <a:r>
              <a:rPr b="1" i="0" lang="en-US" sz="11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Backend Funcional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6120926" y="5592995"/>
            <a:ext cx="5239200" cy="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700"/>
              <a:buFont typeface="Geist"/>
              <a:buNone/>
            </a:pPr>
            <a:r>
              <a:rPr b="0" i="0" lang="en-US" sz="9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APIs REST + Lambda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598450" y="5779626"/>
            <a:ext cx="5428023" cy="462955"/>
          </a:xfrm>
          <a:custGeom>
            <a:rect b="b" l="l" r="r" t="t"/>
            <a:pathLst>
              <a:path extrusionOk="0" h="462955" w="5428023">
                <a:moveTo>
                  <a:pt x="0" y="0"/>
                </a:moveTo>
                <a:lnTo>
                  <a:pt x="5428023" y="0"/>
                </a:lnTo>
                <a:lnTo>
                  <a:pt x="5428023" y="462955"/>
                </a:lnTo>
                <a:lnTo>
                  <a:pt x="33078" y="462955"/>
                </a:lnTo>
                <a:cubicBezTo>
                  <a:pt x="14810" y="462955"/>
                  <a:pt x="0" y="448145"/>
                  <a:pt x="0" y="429876"/>
                </a:cubicBezTo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6" name="Google Shape;146;p8"/>
          <p:cNvSpPr/>
          <p:nvPr/>
        </p:nvSpPr>
        <p:spPr>
          <a:xfrm>
            <a:off x="598450" y="5779626"/>
            <a:ext cx="5427900" cy="12600"/>
          </a:xfrm>
          <a:prstGeom prst="roundRect">
            <a:avLst>
              <a:gd fmla="val 49999" name="adj"/>
            </a:avLst>
          </a:prstGeom>
          <a:solidFill>
            <a:srgbClr val="002A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7" name="Google Shape;147;p8"/>
          <p:cNvSpPr/>
          <p:nvPr/>
        </p:nvSpPr>
        <p:spPr>
          <a:xfrm>
            <a:off x="692904" y="5874082"/>
            <a:ext cx="52392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900"/>
              <a:buFont typeface="Geist"/>
              <a:buNone/>
            </a:pPr>
            <a:r>
              <a:rPr b="1" i="0" lang="en-US" sz="11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Dashboard Interactivo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692904" y="6055950"/>
            <a:ext cx="5239200" cy="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700"/>
              <a:buFont typeface="Geist"/>
              <a:buNone/>
            </a:pPr>
            <a:r>
              <a:rPr b="0" i="0" lang="en-US" sz="9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Tiempo de carga &lt;2s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6026473" y="5779626"/>
            <a:ext cx="5428023" cy="462955"/>
          </a:xfrm>
          <a:custGeom>
            <a:rect b="b" l="l" r="r" t="t"/>
            <a:pathLst>
              <a:path extrusionOk="0" h="462955" w="5428023">
                <a:moveTo>
                  <a:pt x="0" y="0"/>
                </a:moveTo>
                <a:lnTo>
                  <a:pt x="5428023" y="0"/>
                </a:lnTo>
                <a:lnTo>
                  <a:pt x="5428023" y="429876"/>
                </a:lnTo>
                <a:cubicBezTo>
                  <a:pt x="5428023" y="448145"/>
                  <a:pt x="5413213" y="462955"/>
                  <a:pt x="5394945" y="462955"/>
                </a:cubicBezTo>
                <a:lnTo>
                  <a:pt x="0" y="462955"/>
                </a:lnTo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0" name="Google Shape;150;p8"/>
          <p:cNvSpPr/>
          <p:nvPr/>
        </p:nvSpPr>
        <p:spPr>
          <a:xfrm>
            <a:off x="6026473" y="5779626"/>
            <a:ext cx="12600" cy="462900"/>
          </a:xfrm>
          <a:prstGeom prst="roundRect">
            <a:avLst>
              <a:gd fmla="val 49999" name="adj"/>
            </a:avLst>
          </a:prstGeom>
          <a:solidFill>
            <a:srgbClr val="002A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1" name="Google Shape;151;p8"/>
          <p:cNvSpPr/>
          <p:nvPr/>
        </p:nvSpPr>
        <p:spPr>
          <a:xfrm>
            <a:off x="6026473" y="5779626"/>
            <a:ext cx="5427900" cy="12600"/>
          </a:xfrm>
          <a:prstGeom prst="roundRect">
            <a:avLst>
              <a:gd fmla="val 49999" name="adj"/>
            </a:avLst>
          </a:prstGeom>
          <a:solidFill>
            <a:srgbClr val="002A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2" name="Google Shape;152;p8"/>
          <p:cNvSpPr/>
          <p:nvPr/>
        </p:nvSpPr>
        <p:spPr>
          <a:xfrm>
            <a:off x="6120926" y="5874082"/>
            <a:ext cx="52392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900"/>
              <a:buFont typeface="Geist"/>
              <a:buNone/>
            </a:pPr>
            <a:r>
              <a:rPr b="1" i="0" lang="en-US" sz="11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Pruebas ≥95%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6120926" y="6055950"/>
            <a:ext cx="5239200" cy="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700"/>
              <a:buFont typeface="Geist"/>
              <a:buNone/>
            </a:pPr>
            <a:r>
              <a:rPr b="0" i="0" lang="en-US" sz="9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Cobertura integral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/>
          <p:nvPr/>
        </p:nvSpPr>
        <p:spPr>
          <a:xfrm>
            <a:off x="661475" y="868462"/>
            <a:ext cx="10868745" cy="614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700"/>
              <a:buFont typeface="Geist"/>
              <a:buNone/>
            </a:pPr>
            <a:r>
              <a:rPr b="1" i="0" lang="en-US" sz="37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Evidencias </a:t>
            </a:r>
            <a:r>
              <a:rPr b="1" i="0" lang="en-US" sz="3700" u="none" cap="none" strike="noStrike">
                <a:solidFill>
                  <a:srgbClr val="FBBF24"/>
                </a:solidFill>
                <a:latin typeface="Geist"/>
                <a:ea typeface="Geist"/>
                <a:cs typeface="Geist"/>
                <a:sym typeface="Geist"/>
              </a:rPr>
              <a:t>&amp;</a:t>
            </a:r>
            <a:r>
              <a:rPr b="1" i="0" lang="en-US" sz="37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 Factibilidad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661475" y="1955205"/>
            <a:ext cx="5203794" cy="30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Avances Verificados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1" name="Google Shape;16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474913"/>
            <a:ext cx="2507394" cy="10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9"/>
          <p:cNvSpPr/>
          <p:nvPr/>
        </p:nvSpPr>
        <p:spPr>
          <a:xfrm>
            <a:off x="977479" y="2689324"/>
            <a:ext cx="1976983" cy="614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✓ Arquitectura validada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3" name="Google Shape;16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875" y="2474913"/>
            <a:ext cx="2507394" cy="10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9"/>
          <p:cNvSpPr/>
          <p:nvPr/>
        </p:nvSpPr>
        <p:spPr>
          <a:xfrm>
            <a:off x="3673879" y="2689324"/>
            <a:ext cx="1976983" cy="614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✓ VR-API conectada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5" name="Google Shape;16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3706912"/>
            <a:ext cx="2507394" cy="10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9"/>
          <p:cNvSpPr/>
          <p:nvPr/>
        </p:nvSpPr>
        <p:spPr>
          <a:xfrm>
            <a:off x="977479" y="3921323"/>
            <a:ext cx="1976983" cy="614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✓ Backend HTTP 200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7" name="Google Shape;1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875" y="3706912"/>
            <a:ext cx="2507394" cy="10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9"/>
          <p:cNvSpPr/>
          <p:nvPr/>
        </p:nvSpPr>
        <p:spPr>
          <a:xfrm>
            <a:off x="3673879" y="3921323"/>
            <a:ext cx="1976983" cy="30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✓ Dashboard &lt;2s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6332776" y="1955205"/>
            <a:ext cx="5203794" cy="30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Recursos &amp; Mitigación de Riesgos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6332776" y="2451298"/>
            <a:ext cx="5203794" cy="1606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600">
            <a:normAutofit/>
          </a:bodyPr>
          <a:lstStyle/>
          <a:p>
            <a:pPr indent="-294640" lvl="0" marL="29464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Char char="•"/>
            </a:pPr>
            <a:r>
              <a:rPr b="1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Recursos:</a:t>
            </a: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Computadores, Internet, Meta Quest 3, herramientas de desarrollo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Char char="•"/>
            </a:pPr>
            <a:r>
              <a:rPr b="1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Facilitadores:</a:t>
            </a: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Plataforma definida, documentación existente, estructura de datos establecida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Char char="•"/>
            </a:pPr>
            <a:r>
              <a:rPr b="1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Riesgos:</a:t>
            </a: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Pruebas periódicas, desarrollo modular, documentación de errores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6332776" y="4246463"/>
            <a:ext cx="5203794" cy="30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Metas Finales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6332776" y="4742557"/>
            <a:ext cx="5203794" cy="1180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600">
            <a:normAutofit/>
          </a:bodyPr>
          <a:lstStyle/>
          <a:p>
            <a:pPr indent="-294640" lvl="0" marL="29464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Char char="•"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Informes PDF generados en &lt;5s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Char char="•"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Cobertura de pruebas ≥95%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Char char="•"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Manual técnico completo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Char char="•"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Validación con deportistas reales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"/>
          <p:cNvSpPr/>
          <p:nvPr/>
        </p:nvSpPr>
        <p:spPr>
          <a:xfrm>
            <a:off x="661475" y="754360"/>
            <a:ext cx="10868745" cy="614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700"/>
              <a:buFont typeface="Geist"/>
              <a:buNone/>
            </a:pPr>
            <a:r>
              <a:rPr b="1" i="0" lang="en-US" sz="37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Valor Agregado </a:t>
            </a:r>
            <a:r>
              <a:rPr b="1" i="0" lang="en-US" sz="3700" u="none" cap="none" strike="noStrike">
                <a:solidFill>
                  <a:srgbClr val="FBBF24"/>
                </a:solidFill>
                <a:latin typeface="Geist"/>
                <a:ea typeface="Geist"/>
                <a:cs typeface="Geist"/>
                <a:sym typeface="Geist"/>
              </a:rPr>
              <a:t>&amp;</a:t>
            </a:r>
            <a:r>
              <a:rPr b="1" i="0" lang="en-US" sz="37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 Relevancia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661475" y="1746647"/>
            <a:ext cx="3496877" cy="2083991"/>
          </a:xfrm>
          <a:prstGeom prst="roundRect">
            <a:avLst>
              <a:gd fmla="val 3809" name="adj"/>
            </a:avLst>
          </a:prstGeom>
          <a:solidFill>
            <a:srgbClr val="101620"/>
          </a:solidFill>
          <a:ln cap="flat" cmpd="sng" w="190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869531" y="1954709"/>
            <a:ext cx="567021" cy="567035"/>
          </a:xfrm>
          <a:prstGeom prst="ellipse">
            <a:avLst/>
          </a:prstGeom>
          <a:solidFill>
            <a:srgbClr val="487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1" name="Google Shape;18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5499" y="2110680"/>
            <a:ext cx="255085" cy="25509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0"/>
          <p:cNvSpPr/>
          <p:nvPr/>
        </p:nvSpPr>
        <p:spPr>
          <a:xfrm>
            <a:off x="869531" y="2710755"/>
            <a:ext cx="3080764" cy="30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Centralización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869531" y="3131245"/>
            <a:ext cx="3080764" cy="491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Datos accesibles desde web y app mediante códigos de visualización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4347359" y="1746647"/>
            <a:ext cx="3496877" cy="2083991"/>
          </a:xfrm>
          <a:prstGeom prst="roundRect">
            <a:avLst>
              <a:gd fmla="val 3809" name="adj"/>
            </a:avLst>
          </a:prstGeom>
          <a:solidFill>
            <a:srgbClr val="101620"/>
          </a:solidFill>
          <a:ln cap="flat" cmpd="sng" w="190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4555416" y="1954709"/>
            <a:ext cx="567021" cy="567035"/>
          </a:xfrm>
          <a:prstGeom prst="ellipse">
            <a:avLst/>
          </a:prstGeom>
          <a:solidFill>
            <a:srgbClr val="487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6" name="Google Shape;18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1384" y="2110680"/>
            <a:ext cx="255085" cy="25509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0"/>
          <p:cNvSpPr/>
          <p:nvPr/>
        </p:nvSpPr>
        <p:spPr>
          <a:xfrm>
            <a:off x="4555416" y="2710755"/>
            <a:ext cx="3080764" cy="30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Seguridad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4555416" y="3131245"/>
            <a:ext cx="3080764" cy="491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Control diferenciado por roles: Admin vs Especialista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8033244" y="1746647"/>
            <a:ext cx="3496877" cy="2083991"/>
          </a:xfrm>
          <a:prstGeom prst="roundRect">
            <a:avLst>
              <a:gd fmla="val 3809" name="adj"/>
            </a:avLst>
          </a:prstGeom>
          <a:solidFill>
            <a:srgbClr val="101620"/>
          </a:solidFill>
          <a:ln cap="flat" cmpd="sng" w="190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8241300" y="1954709"/>
            <a:ext cx="567021" cy="567035"/>
          </a:xfrm>
          <a:prstGeom prst="ellipse">
            <a:avLst/>
          </a:prstGeom>
          <a:solidFill>
            <a:srgbClr val="487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1" name="Google Shape;19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97268" y="2110680"/>
            <a:ext cx="255085" cy="255091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0"/>
          <p:cNvSpPr/>
          <p:nvPr/>
        </p:nvSpPr>
        <p:spPr>
          <a:xfrm>
            <a:off x="8241300" y="2710755"/>
            <a:ext cx="3080764" cy="30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Automatización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8241300" y="3131245"/>
            <a:ext cx="3080764" cy="491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Informes PDF para optimizar toma de decisiones clínicas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661475" y="4019649"/>
            <a:ext cx="5339820" cy="2083991"/>
          </a:xfrm>
          <a:prstGeom prst="roundRect">
            <a:avLst>
              <a:gd fmla="val 3809" name="adj"/>
            </a:avLst>
          </a:prstGeom>
          <a:solidFill>
            <a:srgbClr val="101620"/>
          </a:solidFill>
          <a:ln cap="flat" cmpd="sng" w="190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869531" y="4227711"/>
            <a:ext cx="567021" cy="567035"/>
          </a:xfrm>
          <a:prstGeom prst="ellipse">
            <a:avLst/>
          </a:prstGeom>
          <a:solidFill>
            <a:srgbClr val="487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6" name="Google Shape;196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5499" y="4383683"/>
            <a:ext cx="255085" cy="25509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0"/>
          <p:cNvSpPr/>
          <p:nvPr/>
        </p:nvSpPr>
        <p:spPr>
          <a:xfrm>
            <a:off x="869531" y="4983758"/>
            <a:ext cx="4923707" cy="30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Escalabilidad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869531" y="5404247"/>
            <a:ext cx="4923707" cy="491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Infraestructura cloud preparada para crecimiento nacional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6190301" y="4019649"/>
            <a:ext cx="5339820" cy="2083991"/>
          </a:xfrm>
          <a:prstGeom prst="roundRect">
            <a:avLst>
              <a:gd fmla="val 3809" name="adj"/>
            </a:avLst>
          </a:prstGeom>
          <a:solidFill>
            <a:srgbClr val="101620"/>
          </a:solidFill>
          <a:ln cap="flat" cmpd="sng" w="190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6398358" y="4227711"/>
            <a:ext cx="567021" cy="567035"/>
          </a:xfrm>
          <a:prstGeom prst="ellipse">
            <a:avLst/>
          </a:prstGeom>
          <a:solidFill>
            <a:srgbClr val="487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1" name="Google Shape;201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54326" y="4383683"/>
            <a:ext cx="255085" cy="255091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0"/>
          <p:cNvSpPr/>
          <p:nvPr/>
        </p:nvSpPr>
        <p:spPr>
          <a:xfrm>
            <a:off x="6398358" y="4983758"/>
            <a:ext cx="4923707" cy="30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Impacto Curricular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6398358" y="5404247"/>
            <a:ext cx="4923707" cy="491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Experiencia real conectando hardware externo con arquitecturas AWS complejas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800480" cy="6858000"/>
          </a:xfrm>
          <a:custGeom>
            <a:rect b="b" l="l" r="r" t="t"/>
            <a:pathLst>
              <a:path extrusionOk="0" h="100000" w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10" name="Google Shape;210;p11"/>
          <p:cNvSpPr/>
          <p:nvPr/>
        </p:nvSpPr>
        <p:spPr>
          <a:xfrm>
            <a:off x="5233360" y="652066"/>
            <a:ext cx="6296860" cy="499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000"/>
              <a:buFont typeface="Geist"/>
              <a:buNone/>
            </a:pPr>
            <a:r>
              <a:rPr b="1" i="0" lang="en-US" sz="30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Conclusión </a:t>
            </a:r>
            <a:r>
              <a:rPr b="1" i="0" lang="en-US" sz="3000" u="none" cap="none" strike="noStrike">
                <a:solidFill>
                  <a:srgbClr val="FBBF24"/>
                </a:solidFill>
                <a:latin typeface="Geist"/>
                <a:ea typeface="Geist"/>
                <a:cs typeface="Geist"/>
                <a:sym typeface="Geist"/>
              </a:rPr>
              <a:t>&amp;</a:t>
            </a:r>
            <a:r>
              <a:rPr b="1" i="0" lang="en-US" sz="30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 Impacto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5233360" y="1338362"/>
            <a:ext cx="6296860" cy="36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Sport Mind VR</a:t>
            </a:r>
            <a:r>
              <a:rPr b="0" i="0" lang="en-US" sz="1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une tecnología, salud mental y rendimiento deportivo en una solución con potencial real de transformación.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2" name="Google Shape;21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3360" y="1840409"/>
            <a:ext cx="3086023" cy="146159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1"/>
          <p:cNvSpPr/>
          <p:nvPr/>
        </p:nvSpPr>
        <p:spPr>
          <a:xfrm>
            <a:off x="5482096" y="2012950"/>
            <a:ext cx="2664751" cy="49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500"/>
              <a:buFont typeface="Geist"/>
              <a:buNone/>
            </a:pPr>
            <a:r>
              <a:rPr b="1" i="0" lang="en-US" sz="1500" u="none" cap="none" strike="noStrike">
                <a:solidFill>
                  <a:srgbClr val="FBBF24"/>
                </a:solidFill>
                <a:latin typeface="Geist"/>
                <a:ea typeface="Geist"/>
                <a:cs typeface="Geist"/>
                <a:sym typeface="Geist"/>
              </a:rPr>
              <a:t>VR + IA</a:t>
            </a:r>
            <a:r>
              <a:rPr b="1" i="0" lang="en-US" sz="15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para regulación emocional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5482096" y="2586831"/>
            <a:ext cx="2664751" cy="542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Entrenamiento inmersivo e inteligente para fortalecer el control emocional en contextos de alta presión.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5" name="Google Shape;21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44098" y="1840409"/>
            <a:ext cx="3086122" cy="1461591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1"/>
          <p:cNvSpPr/>
          <p:nvPr/>
        </p:nvSpPr>
        <p:spPr>
          <a:xfrm>
            <a:off x="8692833" y="2012950"/>
            <a:ext cx="2664850" cy="24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500"/>
              <a:buFont typeface="Geist"/>
              <a:buNone/>
            </a:pPr>
            <a:r>
              <a:rPr b="1" i="0" lang="en-US" sz="1500" u="none" cap="none" strike="noStrike">
                <a:solidFill>
                  <a:srgbClr val="FBBF24"/>
                </a:solidFill>
                <a:latin typeface="Geist"/>
                <a:ea typeface="Geist"/>
                <a:cs typeface="Geist"/>
                <a:sym typeface="Geist"/>
              </a:rPr>
              <a:t>Arquitectura cloud</a:t>
            </a:r>
            <a:r>
              <a:rPr b="1" i="0" lang="en-US" sz="15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escalable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8692833" y="2573284"/>
            <a:ext cx="26649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Una base técnica preparada para crecer, integrar módulos y sostener futuros despliegues a mayor escala.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8" name="Google Shape;21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3360" y="3426718"/>
            <a:ext cx="3086023" cy="1461591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1"/>
          <p:cNvSpPr/>
          <p:nvPr/>
        </p:nvSpPr>
        <p:spPr>
          <a:xfrm>
            <a:off x="5482096" y="3599259"/>
            <a:ext cx="2664751" cy="49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500"/>
              <a:buFont typeface="Geist"/>
              <a:buNone/>
            </a:pPr>
            <a:r>
              <a:rPr b="1" i="0" lang="en-US" sz="1500" u="none" cap="none" strike="noStrike">
                <a:solidFill>
                  <a:srgbClr val="FBBF24"/>
                </a:solidFill>
                <a:latin typeface="Geist"/>
                <a:ea typeface="Geist"/>
                <a:cs typeface="Geist"/>
                <a:sym typeface="Geist"/>
              </a:rPr>
              <a:t>Validación real</a:t>
            </a:r>
            <a:r>
              <a:rPr b="1" i="0" lang="en-US" sz="15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con deportistas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5482096" y="4173141"/>
            <a:ext cx="2664751" cy="542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Un proyecto diseñado para responder a necesidades auténticas del entorno deportivo y educativo.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1" name="Google Shape;22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44098" y="3426718"/>
            <a:ext cx="3086122" cy="1461591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1"/>
          <p:cNvSpPr/>
          <p:nvPr/>
        </p:nvSpPr>
        <p:spPr>
          <a:xfrm>
            <a:off x="8692833" y="3599259"/>
            <a:ext cx="2664850" cy="49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500"/>
              <a:buFont typeface="Geist"/>
              <a:buNone/>
            </a:pPr>
            <a:r>
              <a:rPr b="1" i="0" lang="en-US" sz="1500" u="none" cap="none" strike="noStrike">
                <a:solidFill>
                  <a:srgbClr val="FBBF24"/>
                </a:solidFill>
                <a:latin typeface="Geist"/>
                <a:ea typeface="Geist"/>
                <a:cs typeface="Geist"/>
                <a:sym typeface="Geist"/>
              </a:rPr>
              <a:t>Experiencia profesional</a:t>
            </a:r>
            <a:r>
              <a:rPr b="1" i="0" lang="en-US" sz="15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de alto valor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8692833" y="4173141"/>
            <a:ext cx="2664850" cy="542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Desarrollo con impacto académico y técnico, conectando hardware, software, nube e inteligencia artificial.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5233360" y="5028605"/>
            <a:ext cx="6296860" cy="36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En síntesis:</a:t>
            </a:r>
            <a:r>
              <a:rPr b="0" i="0" lang="en-US" sz="1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Sport Mind VR no solo propone una herramienta innovadora, sino una plataforma con capacidad de generar bienestar, aprendizaje y evolución tecnológica.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5233360" y="5530652"/>
            <a:ext cx="6296860" cy="675283"/>
          </a:xfrm>
          <a:prstGeom prst="roundRect">
            <a:avLst>
              <a:gd fmla="val 9552" name="adj"/>
            </a:avLst>
          </a:prstGeom>
          <a:solidFill>
            <a:srgbClr val="002A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6" name="Google Shape;226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86848" y="5693668"/>
            <a:ext cx="191884" cy="153491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1"/>
          <p:cNvSpPr/>
          <p:nvPr/>
        </p:nvSpPr>
        <p:spPr>
          <a:xfrm>
            <a:off x="5732220" y="5693668"/>
            <a:ext cx="5644513" cy="36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Un proyecto con visión de futuro: útil hoy, escalable mañana y relevante para el deporte de alto rendimiento.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2026-08-30T23:35:12Z</dcterms:created>
</cp:coreProperties>
</file>